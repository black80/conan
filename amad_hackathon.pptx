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6A4C"/>
    <a:srgbClr val="C36A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503C8-0A1D-4B03-B4F2-77BCAF8E609C}" v="55" dt="2026-07-02T18:59:15.885"/>
    <p1510:client id="{6E8CC37A-88BA-4284-8FAA-B682F35FF342}" v="294" dt="2026-07-02T19:11:17.449"/>
    <p1510:client id="{B8EEA57D-1E20-436E-A5CD-0CDEA2160593}" v="65" dt="2026-07-02T19:31:39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3"/>
    <p:restoredTop sz="94610"/>
  </p:normalViewPr>
  <p:slideViewPr>
    <p:cSldViewPr snapToGrid="0" snapToObjects="1">
      <p:cViewPr>
        <p:scale>
          <a:sx n="103" d="100"/>
          <a:sy n="103" d="100"/>
        </p:scale>
        <p:origin x="14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16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4.jpg"/><Relationship Id="rId6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https://drive.google.com/file/d/168xcPpm-MEIqepjTKKU0H0qPpQ8Y4gfb/view?usp=sharing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2431" y="3663315"/>
            <a:ext cx="1144319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30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رقيب — وكيل ذكي لكشف الاحتيال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6556000" y="5161916"/>
            <a:ext cx="4583335" cy="692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defTabSz="914400" rtl="1" eaLnBrk="1" latinLnBrk="0" hangingPunct="1">
              <a:buNone/>
            </a:pPr>
            <a:r>
              <a:rPr lang="ar-SA" sz="3300" b="1">
                <a:solidFill>
                  <a:srgbClr val="C36B4E"/>
                </a:solidFill>
                <a:latin typeface="Aptos"/>
                <a:ea typeface="IBM Plex Sans Arabic"/>
                <a:cs typeface="IBM Plex Sans Arabic" pitchFamily="34" charset="-120"/>
              </a:rPr>
              <a:t>فريق: CaseClosed</a:t>
            </a:r>
            <a:endParaRPr lang="en-US" sz="3300">
              <a:latin typeface="Apto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803824" y="6139815"/>
            <a:ext cx="8680412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F6E7DC">
                    <a:alpha val="7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ذكاء اصطناعي يساعد البنوك على اتخاذ قرارات الاحتيال بسرعة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7334" y="2195613"/>
            <a:ext cx="331115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450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أعضاء الفريق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14409754" y="4005363"/>
            <a:ext cx="2047875" cy="2047875"/>
          </a:xfrm>
          <a:prstGeom prst="ellipse">
            <a:avLst/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10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919341" y="4514951"/>
            <a:ext cx="1028700" cy="1028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94235" y="6261836"/>
            <a:ext cx="1538948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defTabSz="914400" rtl="1" eaLnBrk="1" latinLnBrk="0" hangingPunct="1">
              <a:buNone/>
            </a:pPr>
            <a:r>
              <a:rPr lang="ar-SA" sz="2550" b="1" dirty="0">
                <a:solidFill>
                  <a:srgbClr val="032341"/>
                </a:solidFill>
                <a:latin typeface="IBM Plex Sans Arabic" pitchFamily="34" charset="0"/>
                <a:cs typeface="IBM Plex Sans Arabic" pitchFamily="34" charset="-120"/>
              </a:rPr>
              <a:t>محمد خليل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14055900" y="7032408"/>
            <a:ext cx="30312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950" dirty="0" err="1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قائد</a:t>
            </a:r>
            <a:r>
              <a:rPr lang="en-US" sz="1950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الفريق</a:t>
            </a:r>
            <a:r>
              <a:rPr lang="ar-SA" sz="1950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 محلل اعمال</a:t>
            </a:r>
            <a:endParaRPr lang="en-US" sz="1950" dirty="0"/>
          </a:p>
        </p:txBody>
      </p:sp>
      <p:sp>
        <p:nvSpPr>
          <p:cNvPr id="8" name="Shape 4"/>
          <p:cNvSpPr/>
          <p:nvPr/>
        </p:nvSpPr>
        <p:spPr>
          <a:xfrm>
            <a:off x="10242566" y="4005363"/>
            <a:ext cx="2047875" cy="2047875"/>
          </a:xfrm>
          <a:prstGeom prst="ellipse">
            <a:avLst/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10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52154" y="4514951"/>
            <a:ext cx="1028700" cy="1028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31545" y="6300888"/>
            <a:ext cx="1538948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ar-SA" sz="2550">
                <a:solidFill>
                  <a:srgbClr val="032341"/>
                </a:solidFill>
                <a:ea typeface="+mn-lt"/>
                <a:cs typeface="+mn-lt"/>
              </a:rPr>
              <a:t>أ</a:t>
            </a:r>
            <a:r>
              <a:rPr lang="ar-SA" sz="2550" b="1">
                <a:solidFill>
                  <a:srgbClr val="032341"/>
                </a:solidFill>
                <a:latin typeface="IBM Plex Sans Arabic"/>
                <a:ea typeface="IBM Plex Sans Arabic"/>
                <a:cs typeface="IBM Plex Sans Arabic" pitchFamily="34" charset="-120"/>
              </a:rPr>
              <a:t>يمن كمال</a:t>
            </a:r>
            <a:endParaRPr lang="en-US" sz="2550">
              <a:latin typeface="IBM Plex Sans Arabic"/>
              <a:ea typeface="IBM Plex Sans Arabic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0564035" y="7032408"/>
            <a:ext cx="15454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ar-SA" sz="1950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مهندس برمجيات </a:t>
            </a:r>
            <a:endParaRPr lang="en-US" sz="1950" dirty="0"/>
          </a:p>
        </p:txBody>
      </p:sp>
      <p:sp>
        <p:nvSpPr>
          <p:cNvPr id="12" name="Shape 7"/>
          <p:cNvSpPr/>
          <p:nvPr/>
        </p:nvSpPr>
        <p:spPr>
          <a:xfrm>
            <a:off x="6075379" y="4005363"/>
            <a:ext cx="2047875" cy="2047875"/>
          </a:xfrm>
          <a:prstGeom prst="ellipse">
            <a:avLst/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10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4966" y="4514951"/>
            <a:ext cx="1028700" cy="10287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7425" y="6300888"/>
            <a:ext cx="1843748" cy="513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ar-SA" sz="255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محمد الضي</a:t>
            </a:r>
            <a:endParaRPr lang="en-US" sz="2550" dirty="0"/>
          </a:p>
        </p:txBody>
      </p:sp>
      <p:sp>
        <p:nvSpPr>
          <p:cNvPr id="15" name="Text 9"/>
          <p:cNvSpPr/>
          <p:nvPr/>
        </p:nvSpPr>
        <p:spPr>
          <a:xfrm>
            <a:off x="6407385" y="7032408"/>
            <a:ext cx="152231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ar-SA" sz="1950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مهندس برمجيات</a:t>
            </a:r>
            <a:endParaRPr lang="en-US" sz="1950" dirty="0"/>
          </a:p>
        </p:txBody>
      </p:sp>
      <p:sp>
        <p:nvSpPr>
          <p:cNvPr id="16" name="Shape 10"/>
          <p:cNvSpPr/>
          <p:nvPr/>
        </p:nvSpPr>
        <p:spPr>
          <a:xfrm>
            <a:off x="1908191" y="4005363"/>
            <a:ext cx="2047875" cy="2047875"/>
          </a:xfrm>
          <a:prstGeom prst="ellipse">
            <a:avLst/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10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17779" y="4514951"/>
            <a:ext cx="1028700" cy="10287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232637" y="6300888"/>
            <a:ext cx="1538948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ar-SA" sz="2550" b="1" dirty="0">
                <a:solidFill>
                  <a:srgbClr val="032341"/>
                </a:solidFill>
                <a:latin typeface="IBM Plex Sans Arabic" pitchFamily="34" charset="0"/>
                <a:cs typeface="IBM Plex Sans Arabic" pitchFamily="34" charset="-120"/>
              </a:rPr>
              <a:t>وليد الاسد</a:t>
            </a:r>
            <a:endParaRPr lang="en-US" sz="2550" dirty="0"/>
          </a:p>
        </p:txBody>
      </p:sp>
      <p:sp>
        <p:nvSpPr>
          <p:cNvPr id="19" name="Text 12"/>
          <p:cNvSpPr/>
          <p:nvPr/>
        </p:nvSpPr>
        <p:spPr>
          <a:xfrm>
            <a:off x="2263593" y="7032408"/>
            <a:ext cx="147077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ar-SA" sz="1950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عالم بيانات</a:t>
            </a:r>
            <a:endParaRPr lang="en-US" sz="1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F5234E-91A4-BB96-E3B6-FD1A81102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932" y="3843371"/>
            <a:ext cx="2273893" cy="2273893"/>
          </a:xfrm>
          <a:prstGeom prst="ellipse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9D42600-65E5-6A9B-F7A1-275142C63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2875" y="3843373"/>
            <a:ext cx="2273893" cy="2273893"/>
          </a:xfrm>
          <a:prstGeom prst="ellipse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D62A6F-36EE-CA40-B4D1-4139848CB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942" y="3843373"/>
            <a:ext cx="2273893" cy="2273893"/>
          </a:xfrm>
          <a:prstGeom prst="ellipse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2804E39-56D6-FDA1-CFF4-27C13C265D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26762" y="3843372"/>
            <a:ext cx="2273893" cy="2273893"/>
          </a:xfrm>
          <a:prstGeom prst="ellipse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228600" y="952500"/>
            <a:ext cx="171831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المحتويات:</a:t>
            </a:r>
            <a:endParaRPr lang="en-US" sz="4200" dirty="0"/>
          </a:p>
        </p:txBody>
      </p:sp>
      <p:sp>
        <p:nvSpPr>
          <p:cNvPr id="5" name="Shape 1"/>
          <p:cNvSpPr/>
          <p:nvPr/>
        </p:nvSpPr>
        <p:spPr>
          <a:xfrm>
            <a:off x="16078200" y="2419350"/>
            <a:ext cx="876300" cy="876300"/>
          </a:xfrm>
          <a:prstGeom prst="roundRect">
            <a:avLst>
              <a:gd name="adj" fmla="val 26087"/>
            </a:avLst>
          </a:prstGeom>
          <a:solidFill>
            <a:srgbClr val="032341"/>
          </a:solidFill>
          <a:ln/>
        </p:spPr>
        <p:txBody>
          <a:bodyPr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6" name="Text 2"/>
          <p:cNvSpPr/>
          <p:nvPr/>
        </p:nvSpPr>
        <p:spPr>
          <a:xfrm>
            <a:off x="16040100" y="2419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ar-SA" sz="2850" b="1" dirty="0">
                <a:solidFill>
                  <a:srgbClr val="F6E7DC"/>
                </a:solidFill>
                <a:latin typeface="IBM Plex Sans Arabic" pitchFamily="34" charset="0"/>
                <a:cs typeface="IBM Plex Sans Arabic" pitchFamily="34" charset="-120"/>
              </a:rPr>
              <a:t>١</a:t>
            </a:r>
            <a:endParaRPr lang="en-US" sz="2850" dirty="0"/>
          </a:p>
        </p:txBody>
      </p:sp>
      <p:sp>
        <p:nvSpPr>
          <p:cNvPr id="7" name="Text 3"/>
          <p:cNvSpPr/>
          <p:nvPr/>
        </p:nvSpPr>
        <p:spPr>
          <a:xfrm>
            <a:off x="13818569" y="2600325"/>
            <a:ext cx="193087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أعضاء الفريق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7743825" y="2419350"/>
            <a:ext cx="876300" cy="876300"/>
          </a:xfrm>
          <a:prstGeom prst="roundRect">
            <a:avLst>
              <a:gd name="adj" fmla="val 26087"/>
            </a:avLst>
          </a:prstGeom>
          <a:solidFill>
            <a:srgbClr val="C36B4E"/>
          </a:solidFill>
          <a:ln/>
        </p:spPr>
        <p:txBody>
          <a:bodyPr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7705725" y="2419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ar-SA" sz="28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٢</a:t>
            </a:r>
            <a:endParaRPr lang="en-US" sz="2850" dirty="0"/>
          </a:p>
        </p:txBody>
      </p:sp>
      <p:sp>
        <p:nvSpPr>
          <p:cNvPr id="10" name="Text 6"/>
          <p:cNvSpPr/>
          <p:nvPr/>
        </p:nvSpPr>
        <p:spPr>
          <a:xfrm>
            <a:off x="5237413" y="2639291"/>
            <a:ext cx="21647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 وحلّها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16078200" y="3638550"/>
            <a:ext cx="876300" cy="876300"/>
          </a:xfrm>
          <a:prstGeom prst="roundRect">
            <a:avLst>
              <a:gd name="adj" fmla="val 26087"/>
            </a:avLst>
          </a:prstGeom>
          <a:solidFill>
            <a:srgbClr val="8B85D6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16040100" y="36385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ar-SA" sz="28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٣</a:t>
            </a:r>
            <a:endParaRPr lang="en-US" sz="2850" dirty="0"/>
          </a:p>
        </p:txBody>
      </p:sp>
      <p:sp>
        <p:nvSpPr>
          <p:cNvPr id="13" name="Text 9"/>
          <p:cNvSpPr/>
          <p:nvPr/>
        </p:nvSpPr>
        <p:spPr>
          <a:xfrm>
            <a:off x="12861253" y="3819525"/>
            <a:ext cx="288818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البيانات المستخدمة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7743825" y="3638550"/>
            <a:ext cx="876300" cy="876300"/>
          </a:xfrm>
          <a:prstGeom prst="roundRect">
            <a:avLst>
              <a:gd name="adj" fmla="val 26087"/>
            </a:avLst>
          </a:prstGeom>
          <a:solidFill>
            <a:srgbClr val="032341"/>
          </a:solidFill>
          <a:ln/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1"/>
          <p:cNvSpPr/>
          <p:nvPr/>
        </p:nvSpPr>
        <p:spPr>
          <a:xfrm>
            <a:off x="7705725" y="36385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ar-SA" sz="285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٤</a:t>
            </a:r>
            <a:endParaRPr lang="en-US" sz="2850" dirty="0"/>
          </a:p>
        </p:txBody>
      </p:sp>
      <p:sp>
        <p:nvSpPr>
          <p:cNvPr id="16" name="Text 12"/>
          <p:cNvSpPr/>
          <p:nvPr/>
        </p:nvSpPr>
        <p:spPr>
          <a:xfrm>
            <a:off x="4426454" y="3819525"/>
            <a:ext cx="297567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التقنيات المستخدمة</a:t>
            </a:r>
            <a:endParaRPr lang="en-US" sz="2700" dirty="0"/>
          </a:p>
        </p:txBody>
      </p:sp>
      <p:sp>
        <p:nvSpPr>
          <p:cNvPr id="17" name="Shape 13"/>
          <p:cNvSpPr/>
          <p:nvPr/>
        </p:nvSpPr>
        <p:spPr>
          <a:xfrm>
            <a:off x="16078200" y="4857750"/>
            <a:ext cx="876300" cy="876300"/>
          </a:xfrm>
          <a:prstGeom prst="roundRect">
            <a:avLst>
              <a:gd name="adj" fmla="val 26087"/>
            </a:avLst>
          </a:prstGeom>
          <a:solidFill>
            <a:srgbClr val="C36B4E"/>
          </a:solidFill>
          <a:ln/>
        </p:spPr>
        <p:txBody>
          <a:bodyPr/>
          <a:lstStyle/>
          <a:p>
            <a:pPr marL="0" algn="ctr" defTabSz="914400" rtl="1" eaLnBrk="1" latinLnBrk="0" hangingPunct="1"/>
            <a:endParaRPr lang="en-SA" dirty="0"/>
          </a:p>
        </p:txBody>
      </p:sp>
      <p:sp>
        <p:nvSpPr>
          <p:cNvPr id="18" name="Text 14"/>
          <p:cNvSpPr/>
          <p:nvPr/>
        </p:nvSpPr>
        <p:spPr>
          <a:xfrm>
            <a:off x="16040100" y="48577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ar-SA" sz="28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٥</a:t>
            </a:r>
            <a:endParaRPr lang="en-US" sz="2850" dirty="0"/>
          </a:p>
        </p:txBody>
      </p:sp>
      <p:sp>
        <p:nvSpPr>
          <p:cNvPr id="19" name="Text 15"/>
          <p:cNvSpPr/>
          <p:nvPr/>
        </p:nvSpPr>
        <p:spPr>
          <a:xfrm>
            <a:off x="11767402" y="5019675"/>
            <a:ext cx="398203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الفكرة وتوفير البيانات</a:t>
            </a:r>
            <a:endParaRPr lang="en-US" sz="2700" dirty="0"/>
          </a:p>
        </p:txBody>
      </p:sp>
      <p:sp>
        <p:nvSpPr>
          <p:cNvPr id="20" name="Shape 16"/>
          <p:cNvSpPr/>
          <p:nvPr/>
        </p:nvSpPr>
        <p:spPr>
          <a:xfrm>
            <a:off x="7743825" y="4857750"/>
            <a:ext cx="876300" cy="876300"/>
          </a:xfrm>
          <a:prstGeom prst="roundRect">
            <a:avLst>
              <a:gd name="adj" fmla="val 26087"/>
            </a:avLst>
          </a:prstGeom>
          <a:solidFill>
            <a:srgbClr val="8B85D6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21" name="Text 17"/>
          <p:cNvSpPr/>
          <p:nvPr/>
        </p:nvSpPr>
        <p:spPr>
          <a:xfrm>
            <a:off x="7705725" y="48577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ar-SA" sz="28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٦</a:t>
            </a:r>
            <a:endParaRPr lang="en-US" sz="2850" dirty="0"/>
          </a:p>
        </p:txBody>
      </p:sp>
      <p:sp>
        <p:nvSpPr>
          <p:cNvPr id="22" name="Text 18"/>
          <p:cNvSpPr/>
          <p:nvPr/>
        </p:nvSpPr>
        <p:spPr>
          <a:xfrm>
            <a:off x="3578170" y="5038725"/>
            <a:ext cx="38239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الاختبار والعرض التوضيحي</a:t>
            </a:r>
            <a:endParaRPr lang="en-US" sz="2700" dirty="0"/>
          </a:p>
        </p:txBody>
      </p:sp>
      <p:sp>
        <p:nvSpPr>
          <p:cNvPr id="23" name="Shape 19"/>
          <p:cNvSpPr/>
          <p:nvPr/>
        </p:nvSpPr>
        <p:spPr>
          <a:xfrm>
            <a:off x="16078200" y="6076950"/>
            <a:ext cx="876300" cy="876300"/>
          </a:xfrm>
          <a:prstGeom prst="roundRect">
            <a:avLst>
              <a:gd name="adj" fmla="val 26087"/>
            </a:avLst>
          </a:prstGeom>
          <a:solidFill>
            <a:srgbClr val="032341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24" name="Text 20"/>
          <p:cNvSpPr/>
          <p:nvPr/>
        </p:nvSpPr>
        <p:spPr>
          <a:xfrm>
            <a:off x="16040100" y="60769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ar-SA" sz="285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٧</a:t>
            </a:r>
            <a:endParaRPr lang="en-US" sz="2850" dirty="0"/>
          </a:p>
        </p:txBody>
      </p:sp>
      <p:sp>
        <p:nvSpPr>
          <p:cNvPr id="25" name="Text 21"/>
          <p:cNvSpPr/>
          <p:nvPr/>
        </p:nvSpPr>
        <p:spPr>
          <a:xfrm>
            <a:off x="10916105" y="6257925"/>
            <a:ext cx="483333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ملخص المشروع والخطط القادمة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457200" y="8572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 وحلّها</a:t>
            </a:r>
            <a:endParaRPr lang="en-US" sz="4200" dirty="0"/>
          </a:p>
        </p:txBody>
      </p:sp>
      <p:sp>
        <p:nvSpPr>
          <p:cNvPr id="5" name="Shape 1"/>
          <p:cNvSpPr/>
          <p:nvPr/>
        </p:nvSpPr>
        <p:spPr>
          <a:xfrm>
            <a:off x="9382125" y="2000250"/>
            <a:ext cx="7762875" cy="762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6" name="Text 2"/>
          <p:cNvSpPr/>
          <p:nvPr/>
        </p:nvSpPr>
        <p:spPr>
          <a:xfrm>
            <a:off x="9493091" y="2431089"/>
            <a:ext cx="7617143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9801225" y="3112770"/>
            <a:ext cx="7132415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 rtl="1">
              <a:lnSpc>
                <a:spcPct val="170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أنظمة الاحتيال الحالية تُرسل تنبيهات كثيرة جدًا، والمحقق يحتاج وقتًا طويلًا ليفهم </a:t>
            </a:r>
            <a:r>
              <a:rPr lang="en-US" sz="2025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</a:t>
            </a: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2025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</a:t>
            </a:r>
            <a:r>
              <a:rPr lang="ar-SA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</a:t>
            </a: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فتتراكم الحالات ويفوت احتيال حقيقي.</a:t>
            </a:r>
            <a:endParaRPr lang="en-US" sz="2025" dirty="0"/>
          </a:p>
        </p:txBody>
      </p:sp>
      <p:sp>
        <p:nvSpPr>
          <p:cNvPr id="8" name="Shape 4"/>
          <p:cNvSpPr/>
          <p:nvPr/>
        </p:nvSpPr>
        <p:spPr>
          <a:xfrm>
            <a:off x="9801225" y="5993130"/>
            <a:ext cx="6924675" cy="662940"/>
          </a:xfrm>
          <a:prstGeom prst="roundRect">
            <a:avLst>
              <a:gd name="adj" fmla="val 20115"/>
            </a:avLst>
          </a:prstGeom>
          <a:solidFill>
            <a:srgbClr val="032341">
              <a:alpha val="8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9925955" y="6145530"/>
            <a:ext cx="667521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آلاف التنبيهات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13143548" y="6770370"/>
            <a:ext cx="3162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↓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9801225" y="7284720"/>
            <a:ext cx="6924675" cy="662940"/>
          </a:xfrm>
          <a:prstGeom prst="roundRect">
            <a:avLst>
              <a:gd name="adj" fmla="val 20115"/>
            </a:avLst>
          </a:prstGeom>
          <a:solidFill>
            <a:srgbClr val="032341">
              <a:alpha val="8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9925955" y="7437120"/>
            <a:ext cx="667521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تحقيق يدوي في كل تنبيه</a:t>
            </a:r>
            <a:endParaRPr lang="en-US" sz="1875" dirty="0"/>
          </a:p>
        </p:txBody>
      </p:sp>
      <p:sp>
        <p:nvSpPr>
          <p:cNvPr id="13" name="Text 9"/>
          <p:cNvSpPr/>
          <p:nvPr/>
        </p:nvSpPr>
        <p:spPr>
          <a:xfrm>
            <a:off x="13143548" y="8061960"/>
            <a:ext cx="3162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↓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801225" y="8576310"/>
            <a:ext cx="6924675" cy="662940"/>
          </a:xfrm>
          <a:prstGeom prst="roundRect">
            <a:avLst>
              <a:gd name="adj" fmla="val 20115"/>
            </a:avLst>
          </a:prstGeom>
          <a:solidFill>
            <a:srgbClr val="C36B4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1"/>
          <p:cNvSpPr/>
          <p:nvPr/>
        </p:nvSpPr>
        <p:spPr>
          <a:xfrm>
            <a:off x="9925955" y="8728710"/>
            <a:ext cx="667521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إرهاق الفريق وضياع تنبيهات</a:t>
            </a:r>
            <a:endParaRPr lang="en-US" sz="1875" dirty="0"/>
          </a:p>
        </p:txBody>
      </p:sp>
      <p:sp>
        <p:nvSpPr>
          <p:cNvPr id="16" name="Shape 12"/>
          <p:cNvSpPr/>
          <p:nvPr/>
        </p:nvSpPr>
        <p:spPr>
          <a:xfrm>
            <a:off x="1143000" y="2000250"/>
            <a:ext cx="7762875" cy="7620000"/>
          </a:xfrm>
          <a:prstGeom prst="roundRect">
            <a:avLst>
              <a:gd name="adj" fmla="val 3500"/>
            </a:avLst>
          </a:prstGeom>
          <a:solidFill>
            <a:srgbClr val="03234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Text 13"/>
          <p:cNvSpPr/>
          <p:nvPr/>
        </p:nvSpPr>
        <p:spPr>
          <a:xfrm>
            <a:off x="1060252" y="2403698"/>
            <a:ext cx="7617143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8B85D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</a:t>
            </a:r>
            <a:endParaRPr lang="en-US" sz="2550" dirty="0"/>
          </a:p>
        </p:txBody>
      </p:sp>
      <p:sp>
        <p:nvSpPr>
          <p:cNvPr id="18" name="Text 14"/>
          <p:cNvSpPr/>
          <p:nvPr/>
        </p:nvSpPr>
        <p:spPr>
          <a:xfrm>
            <a:off x="1562100" y="3112770"/>
            <a:ext cx="7132415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2025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نضيف وكيل ذكاء اصطناعي بعد القواعد الآلية: يقرأ كل تنبيه مع سياقه، يحسم الحالات الواضحة، ويجهّز ملف قرار للحالات الصعبة.</a:t>
            </a:r>
            <a:endParaRPr lang="en-US" sz="2025" dirty="0"/>
          </a:p>
        </p:txBody>
      </p:sp>
      <p:sp>
        <p:nvSpPr>
          <p:cNvPr id="19" name="Shape 15"/>
          <p:cNvSpPr/>
          <p:nvPr/>
        </p:nvSpPr>
        <p:spPr>
          <a:xfrm>
            <a:off x="1562100" y="4933950"/>
            <a:ext cx="6924675" cy="624840"/>
          </a:xfrm>
          <a:prstGeom prst="roundRect">
            <a:avLst>
              <a:gd name="adj" fmla="val 21341"/>
            </a:avLst>
          </a:prstGeom>
          <a:solidFill>
            <a:srgbClr val="F6E7DC">
              <a:alpha val="12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6"/>
          <p:cNvSpPr/>
          <p:nvPr/>
        </p:nvSpPr>
        <p:spPr>
          <a:xfrm>
            <a:off x="1686830" y="5067300"/>
            <a:ext cx="667521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آلاف التنبيهات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4912995" y="5673090"/>
            <a:ext cx="2990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B85D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↓</a:t>
            </a:r>
            <a:endParaRPr lang="en-US" sz="1950" dirty="0"/>
          </a:p>
        </p:txBody>
      </p:sp>
      <p:sp>
        <p:nvSpPr>
          <p:cNvPr id="22" name="Shape 18"/>
          <p:cNvSpPr/>
          <p:nvPr/>
        </p:nvSpPr>
        <p:spPr>
          <a:xfrm>
            <a:off x="1562100" y="6160770"/>
            <a:ext cx="6924675" cy="624840"/>
          </a:xfrm>
          <a:prstGeom prst="roundRect">
            <a:avLst>
              <a:gd name="adj" fmla="val 21341"/>
            </a:avLst>
          </a:prstGeom>
          <a:solidFill>
            <a:srgbClr val="8B85D6">
              <a:alpha val="35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19"/>
          <p:cNvSpPr/>
          <p:nvPr/>
        </p:nvSpPr>
        <p:spPr>
          <a:xfrm>
            <a:off x="1686830" y="6294120"/>
            <a:ext cx="667521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الوكيل الذكي — طبقة فرز إضافية</a:t>
            </a:r>
            <a:endParaRPr lang="en-US" sz="1875" dirty="0"/>
          </a:p>
        </p:txBody>
      </p:sp>
      <p:sp>
        <p:nvSpPr>
          <p:cNvPr id="24" name="Text 20"/>
          <p:cNvSpPr/>
          <p:nvPr/>
        </p:nvSpPr>
        <p:spPr>
          <a:xfrm>
            <a:off x="4912995" y="6899910"/>
            <a:ext cx="2990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B85D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↓</a:t>
            </a:r>
            <a:endParaRPr lang="en-US" sz="1950" dirty="0"/>
          </a:p>
        </p:txBody>
      </p:sp>
      <p:sp>
        <p:nvSpPr>
          <p:cNvPr id="25" name="Shape 21"/>
          <p:cNvSpPr/>
          <p:nvPr/>
        </p:nvSpPr>
        <p:spPr>
          <a:xfrm>
            <a:off x="1562100" y="7387590"/>
            <a:ext cx="6924675" cy="624840"/>
          </a:xfrm>
          <a:prstGeom prst="roundRect">
            <a:avLst>
              <a:gd name="adj" fmla="val 21341"/>
            </a:avLst>
          </a:prstGeom>
          <a:solidFill>
            <a:srgbClr val="8B85D6">
              <a:alpha val="35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Text 22"/>
          <p:cNvSpPr/>
          <p:nvPr/>
        </p:nvSpPr>
        <p:spPr>
          <a:xfrm>
            <a:off x="1686830" y="7520940"/>
            <a:ext cx="667521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تحقيق في ملف قضية جاهز بالذكاء الاصطناعي</a:t>
            </a:r>
            <a:endParaRPr lang="en-US" sz="1875" dirty="0"/>
          </a:p>
        </p:txBody>
      </p:sp>
      <p:sp>
        <p:nvSpPr>
          <p:cNvPr id="27" name="Text 23"/>
          <p:cNvSpPr/>
          <p:nvPr/>
        </p:nvSpPr>
        <p:spPr>
          <a:xfrm>
            <a:off x="4912995" y="8126730"/>
            <a:ext cx="2990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B85D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↓</a:t>
            </a:r>
            <a:endParaRPr lang="en-US" sz="1950" dirty="0"/>
          </a:p>
        </p:txBody>
      </p:sp>
      <p:sp>
        <p:nvSpPr>
          <p:cNvPr id="28" name="Shape 24"/>
          <p:cNvSpPr/>
          <p:nvPr/>
        </p:nvSpPr>
        <p:spPr>
          <a:xfrm>
            <a:off x="1562100" y="8614410"/>
            <a:ext cx="6924675" cy="624840"/>
          </a:xfrm>
          <a:prstGeom prst="roundRect">
            <a:avLst>
              <a:gd name="adj" fmla="val 21341"/>
            </a:avLst>
          </a:prstGeom>
          <a:solidFill>
            <a:srgbClr val="8B85D6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Text 25"/>
          <p:cNvSpPr/>
          <p:nvPr/>
        </p:nvSpPr>
        <p:spPr>
          <a:xfrm>
            <a:off x="1686830" y="8747760"/>
            <a:ext cx="667521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تغطية أوسع واستغلال أفضل لوقت المحققين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457200" y="8572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البيانات المستخدمة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7086600" y="2105025"/>
            <a:ext cx="1005840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175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المرحلة الأولى — إثبات الفكرة</a:t>
            </a:r>
            <a:endParaRPr lang="en-US" sz="2175" dirty="0"/>
          </a:p>
        </p:txBody>
      </p:sp>
      <p:sp>
        <p:nvSpPr>
          <p:cNvPr id="6" name="Text 2"/>
          <p:cNvSpPr/>
          <p:nvPr/>
        </p:nvSpPr>
        <p:spPr>
          <a:xfrm>
            <a:off x="7726680" y="2533212"/>
            <a:ext cx="941832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البيانات الحقيقية غير متاحة بسبب الخصوصية، لذلك بدأنا ببيانات شراء مولّدة بالذكاء الاصطناعي تحاكي التوزيع الحقيقي للمشتريات.</a:t>
            </a:r>
            <a:endParaRPr lang="en-US" sz="2025" dirty="0"/>
          </a:p>
        </p:txBody>
      </p:sp>
      <p:sp>
        <p:nvSpPr>
          <p:cNvPr id="7" name="Text 3"/>
          <p:cNvSpPr/>
          <p:nvPr/>
        </p:nvSpPr>
        <p:spPr>
          <a:xfrm>
            <a:off x="7086600" y="3874964"/>
            <a:ext cx="1005840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175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المرحلة الثانية — بيانات مفتوحة</a:t>
            </a:r>
            <a:endParaRPr lang="en-US" sz="2175" dirty="0"/>
          </a:p>
        </p:txBody>
      </p:sp>
      <p:sp>
        <p:nvSpPr>
          <p:cNvPr id="8" name="Text 4"/>
          <p:cNvSpPr/>
          <p:nvPr/>
        </p:nvSpPr>
        <p:spPr>
          <a:xfrm>
            <a:off x="7726680" y="4199251"/>
            <a:ext cx="941832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بحثنا عن أقرب البيانات للواقع واعتمدنا IBM AML HI-Small: معاملات بنكية مولّدة من محاكي IBM، مع تصنيف حقيقي لأنماط غسيل الأموال — فكل نتائجنا مقاسة لا مُقدَّرة.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7086600" y="5446395"/>
            <a:ext cx="1005840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175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معالجة البيانات</a:t>
            </a:r>
            <a:endParaRPr lang="en-US" sz="2175" dirty="0"/>
          </a:p>
        </p:txBody>
      </p:sp>
      <p:sp>
        <p:nvSpPr>
          <p:cNvPr id="10" name="Text 6"/>
          <p:cNvSpPr/>
          <p:nvPr/>
        </p:nvSpPr>
        <p:spPr>
          <a:xfrm>
            <a:off x="7726680" y="5768340"/>
            <a:ext cx="941832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كشف الاحتيال يحتاج مؤشرات كثيرة: مجاميع متحركة، متوسطات، وقيم شاذة — فبنينا عليها هندسة الخصائص.</a:t>
            </a:r>
            <a:endParaRPr lang="en-US" sz="2025" dirty="0"/>
          </a:p>
        </p:txBody>
      </p:sp>
      <p:sp>
        <p:nvSpPr>
          <p:cNvPr id="11" name="Text 7"/>
          <p:cNvSpPr/>
          <p:nvPr/>
        </p:nvSpPr>
        <p:spPr>
          <a:xfrm>
            <a:off x="7086600" y="7117080"/>
            <a:ext cx="1005840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175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التحديات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7726680" y="7444225"/>
            <a:ext cx="941832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يصعب أن نجد بيانات جاهزة تعكس طبيعة البيانات الأصلية، فنضطر للتخلي عن بعض المؤشرات المهمة.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1143000" y="2226945"/>
            <a:ext cx="6096000" cy="1809750"/>
          </a:xfrm>
          <a:prstGeom prst="roundRect">
            <a:avLst>
              <a:gd name="adj" fmla="val 12632"/>
            </a:avLst>
          </a:prstGeom>
          <a:solidFill>
            <a:srgbClr val="03234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Text 10"/>
          <p:cNvSpPr/>
          <p:nvPr/>
        </p:nvSpPr>
        <p:spPr>
          <a:xfrm>
            <a:off x="1524000" y="2531745"/>
            <a:ext cx="586740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405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5.1M</a:t>
            </a:r>
            <a:endParaRPr lang="en-US" sz="4050" dirty="0"/>
          </a:p>
        </p:txBody>
      </p:sp>
      <p:sp>
        <p:nvSpPr>
          <p:cNvPr id="15" name="Text 11"/>
          <p:cNvSpPr/>
          <p:nvPr/>
        </p:nvSpPr>
        <p:spPr>
          <a:xfrm>
            <a:off x="1524000" y="3358515"/>
            <a:ext cx="5867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950" dirty="0">
                <a:solidFill>
                  <a:srgbClr val="F6E7DC">
                    <a:alpha val="80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معاملة بنكية على مدى ١٧ يومًا (IBM AML)</a:t>
            </a:r>
            <a:endParaRPr lang="en-US" sz="1950" dirty="0"/>
          </a:p>
        </p:txBody>
      </p:sp>
      <p:sp>
        <p:nvSpPr>
          <p:cNvPr id="16" name="Shape 12"/>
          <p:cNvSpPr/>
          <p:nvPr/>
        </p:nvSpPr>
        <p:spPr>
          <a:xfrm>
            <a:off x="1143000" y="4360545"/>
            <a:ext cx="6096000" cy="1809750"/>
          </a:xfrm>
          <a:prstGeom prst="roundRect">
            <a:avLst>
              <a:gd name="adj" fmla="val 12632"/>
            </a:avLst>
          </a:prstGeom>
          <a:solidFill>
            <a:srgbClr val="C36B4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Text 13"/>
          <p:cNvSpPr/>
          <p:nvPr/>
        </p:nvSpPr>
        <p:spPr>
          <a:xfrm>
            <a:off x="1524000" y="4665345"/>
            <a:ext cx="586740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40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٨</a:t>
            </a:r>
            <a:endParaRPr lang="en-US" sz="4050" dirty="0"/>
          </a:p>
        </p:txBody>
      </p:sp>
      <p:sp>
        <p:nvSpPr>
          <p:cNvPr id="18" name="Text 14"/>
          <p:cNvSpPr/>
          <p:nvPr/>
        </p:nvSpPr>
        <p:spPr>
          <a:xfrm>
            <a:off x="1524000" y="5492115"/>
            <a:ext cx="5867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أنماط غسيل أموال بتصنيف حقيقي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1143000" y="6494145"/>
            <a:ext cx="6096000" cy="1809750"/>
          </a:xfrm>
          <a:prstGeom prst="roundRect">
            <a:avLst>
              <a:gd name="adj" fmla="val 12632"/>
            </a:avLst>
          </a:prstGeom>
          <a:solidFill>
            <a:srgbClr val="8B85D6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6"/>
          <p:cNvSpPr/>
          <p:nvPr/>
        </p:nvSpPr>
        <p:spPr>
          <a:xfrm>
            <a:off x="1524000" y="6798945"/>
            <a:ext cx="586740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40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٤٠+</a:t>
            </a:r>
            <a:endParaRPr lang="en-US" sz="4050" dirty="0"/>
          </a:p>
        </p:txBody>
      </p:sp>
      <p:sp>
        <p:nvSpPr>
          <p:cNvPr id="21" name="Text 17"/>
          <p:cNvSpPr/>
          <p:nvPr/>
        </p:nvSpPr>
        <p:spPr>
          <a:xfrm>
            <a:off x="1524000" y="7625715"/>
            <a:ext cx="5867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مؤشرًا لحظيًا لكل معاملة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457200" y="8572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التقنيات المستخدمة</a:t>
            </a:r>
            <a:endParaRPr lang="en-US" sz="4200" dirty="0"/>
          </a:p>
        </p:txBody>
      </p:sp>
      <p:sp>
        <p:nvSpPr>
          <p:cNvPr id="5" name="Shape 1"/>
          <p:cNvSpPr/>
          <p:nvPr/>
        </p:nvSpPr>
        <p:spPr>
          <a:xfrm>
            <a:off x="9477375" y="2171700"/>
            <a:ext cx="7667625" cy="2203430"/>
          </a:xfrm>
          <a:prstGeom prst="roundRect">
            <a:avLst>
              <a:gd name="adj" fmla="val 9510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6" name="Shape 2"/>
          <p:cNvSpPr/>
          <p:nvPr/>
        </p:nvSpPr>
        <p:spPr>
          <a:xfrm>
            <a:off x="14744700" y="2913340"/>
            <a:ext cx="2038350" cy="720090"/>
          </a:xfrm>
          <a:prstGeom prst="roundRect">
            <a:avLst>
              <a:gd name="adj" fmla="val 21164"/>
            </a:avLst>
          </a:prstGeom>
          <a:solidFill>
            <a:srgbClr val="032341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7" name="Text 3"/>
          <p:cNvSpPr/>
          <p:nvPr/>
        </p:nvSpPr>
        <p:spPr>
          <a:xfrm>
            <a:off x="14916150" y="3065740"/>
            <a:ext cx="169545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75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FastAPI + RabbitMQ</a:t>
            </a:r>
            <a:endParaRPr lang="en-US" sz="2175" dirty="0"/>
          </a:p>
        </p:txBody>
      </p:sp>
      <p:sp>
        <p:nvSpPr>
          <p:cNvPr id="8" name="Text 4"/>
          <p:cNvSpPr/>
          <p:nvPr/>
        </p:nvSpPr>
        <p:spPr>
          <a:xfrm>
            <a:off x="9839325" y="2849047"/>
            <a:ext cx="4758214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ar-SA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معمارية موجهة بالأحداث: طوابير رسائل وCelery وPostgreSQL لمعالجة التنبيهات فور وقوعها.</a:t>
            </a:r>
            <a:endParaRPr lang="en-US" sz="2025" dirty="0"/>
          </a:p>
        </p:txBody>
      </p:sp>
      <p:sp>
        <p:nvSpPr>
          <p:cNvPr id="9" name="Shape 5"/>
          <p:cNvSpPr/>
          <p:nvPr/>
        </p:nvSpPr>
        <p:spPr>
          <a:xfrm>
            <a:off x="1143000" y="2171700"/>
            <a:ext cx="7667625" cy="2203430"/>
          </a:xfrm>
          <a:prstGeom prst="roundRect">
            <a:avLst>
              <a:gd name="adj" fmla="val 9510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0" name="Shape 6"/>
          <p:cNvSpPr/>
          <p:nvPr/>
        </p:nvSpPr>
        <p:spPr>
          <a:xfrm>
            <a:off x="6410325" y="2913340"/>
            <a:ext cx="2038350" cy="720090"/>
          </a:xfrm>
          <a:prstGeom prst="roundRect">
            <a:avLst>
              <a:gd name="adj" fmla="val 21164"/>
            </a:avLst>
          </a:prstGeom>
          <a:solidFill>
            <a:srgbClr val="C36B4E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1" name="Text 7"/>
          <p:cNvSpPr/>
          <p:nvPr/>
        </p:nvSpPr>
        <p:spPr>
          <a:xfrm>
            <a:off x="6581775" y="3065740"/>
            <a:ext cx="169545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Agentic AI — Claude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1504950" y="2636877"/>
            <a:ext cx="4758214" cy="1311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وكيل ذكاء اصطناعي باستدعاء الأدوات (Tool Calling): ٨ أدوات لتحليل شبكة المعاملات، يقرر بنفسه أي أداة يستدعي، يتتبع الأموال عبر قفزات متعددة ويشرح حكمه.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9477375" y="4794230"/>
            <a:ext cx="7667625" cy="2203430"/>
          </a:xfrm>
          <a:prstGeom prst="roundRect">
            <a:avLst>
              <a:gd name="adj" fmla="val 9510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4" name="Shape 10"/>
          <p:cNvSpPr/>
          <p:nvPr/>
        </p:nvSpPr>
        <p:spPr>
          <a:xfrm>
            <a:off x="14744700" y="5535871"/>
            <a:ext cx="2038350" cy="720090"/>
          </a:xfrm>
          <a:prstGeom prst="roundRect">
            <a:avLst>
              <a:gd name="adj" fmla="val 21164"/>
            </a:avLst>
          </a:prstGeom>
          <a:solidFill>
            <a:srgbClr val="8B85D6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5" name="Text 11"/>
          <p:cNvSpPr/>
          <p:nvPr/>
        </p:nvSpPr>
        <p:spPr>
          <a:xfrm>
            <a:off x="14916150" y="5688271"/>
            <a:ext cx="169545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Polars</a:t>
            </a:r>
            <a:endParaRPr lang="en-US" sz="2175" dirty="0"/>
          </a:p>
        </p:txBody>
      </p:sp>
      <p:sp>
        <p:nvSpPr>
          <p:cNvPr id="16" name="Text 12"/>
          <p:cNvSpPr/>
          <p:nvPr/>
        </p:nvSpPr>
        <p:spPr>
          <a:xfrm>
            <a:off x="9839325" y="5471577"/>
            <a:ext cx="4758214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مخزن مؤشرات لحظي بمحرك Polars المبني على Rust: ٤٠+ مؤشرًا متجددًا لكل حساب، و٥ ملايين معاملة خلال ثوانٍ.</a:t>
            </a:r>
            <a:endParaRPr lang="en-US" sz="2025" dirty="0"/>
          </a:p>
        </p:txBody>
      </p:sp>
      <p:sp>
        <p:nvSpPr>
          <p:cNvPr id="17" name="Shape 13"/>
          <p:cNvSpPr/>
          <p:nvPr/>
        </p:nvSpPr>
        <p:spPr>
          <a:xfrm>
            <a:off x="1143000" y="4794230"/>
            <a:ext cx="7667625" cy="2203430"/>
          </a:xfrm>
          <a:prstGeom prst="roundRect">
            <a:avLst>
              <a:gd name="adj" fmla="val 9510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8" name="Shape 14"/>
          <p:cNvSpPr/>
          <p:nvPr/>
        </p:nvSpPr>
        <p:spPr>
          <a:xfrm>
            <a:off x="6410325" y="5535871"/>
            <a:ext cx="2038350" cy="720090"/>
          </a:xfrm>
          <a:prstGeom prst="roundRect">
            <a:avLst>
              <a:gd name="adj" fmla="val 21164"/>
            </a:avLst>
          </a:prstGeom>
          <a:solidFill>
            <a:srgbClr val="032341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9" name="Text 15"/>
          <p:cNvSpPr/>
          <p:nvPr/>
        </p:nvSpPr>
        <p:spPr>
          <a:xfrm>
            <a:off x="6581775" y="5688271"/>
            <a:ext cx="169545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75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Flask + SSE</a:t>
            </a:r>
            <a:endParaRPr lang="en-US" sz="2175" dirty="0"/>
          </a:p>
        </p:txBody>
      </p:sp>
      <p:sp>
        <p:nvSpPr>
          <p:cNvPr id="20" name="Text 16"/>
          <p:cNvSpPr/>
          <p:nvPr/>
        </p:nvSpPr>
        <p:spPr>
          <a:xfrm>
            <a:off x="1864935" y="5683746"/>
            <a:ext cx="4387429" cy="46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خطوة من تفكير الوكيل تُبث مباشرة إلى شاشة المحقق — عرض حي، لا تسجيل مسبق.</a:t>
            </a:r>
            <a:endParaRPr lang="en-US" sz="2025" dirty="0"/>
          </a:p>
        </p:txBody>
      </p:sp>
      <p:sp>
        <p:nvSpPr>
          <p:cNvPr id="21" name="Shape 17"/>
          <p:cNvSpPr/>
          <p:nvPr/>
        </p:nvSpPr>
        <p:spPr>
          <a:xfrm>
            <a:off x="9477375" y="7416761"/>
            <a:ext cx="7667625" cy="2203430"/>
          </a:xfrm>
          <a:prstGeom prst="roundRect">
            <a:avLst>
              <a:gd name="adj" fmla="val 9510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22" name="Shape 18"/>
          <p:cNvSpPr/>
          <p:nvPr/>
        </p:nvSpPr>
        <p:spPr>
          <a:xfrm>
            <a:off x="14744700" y="8158401"/>
            <a:ext cx="2038350" cy="720090"/>
          </a:xfrm>
          <a:prstGeom prst="roundRect">
            <a:avLst>
              <a:gd name="adj" fmla="val 21164"/>
            </a:avLst>
          </a:prstGeom>
          <a:solidFill>
            <a:srgbClr val="C36B4E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23" name="Text 19"/>
          <p:cNvSpPr/>
          <p:nvPr/>
        </p:nvSpPr>
        <p:spPr>
          <a:xfrm>
            <a:off x="14916150" y="8310801"/>
            <a:ext cx="169545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React</a:t>
            </a:r>
            <a:endParaRPr lang="en-US" sz="2175" dirty="0"/>
          </a:p>
        </p:txBody>
      </p:sp>
      <p:sp>
        <p:nvSpPr>
          <p:cNvPr id="24" name="Text 20"/>
          <p:cNvSpPr/>
          <p:nvPr/>
        </p:nvSpPr>
        <p:spPr>
          <a:xfrm>
            <a:off x="11296709" y="8306276"/>
            <a:ext cx="3257108" cy="46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لبناء واجهة المحقق وشاشة القرار.</a:t>
            </a:r>
            <a:endParaRPr lang="en-US" sz="2025" dirty="0"/>
          </a:p>
        </p:txBody>
      </p:sp>
      <p:sp>
        <p:nvSpPr>
          <p:cNvPr id="25" name="Shape 21"/>
          <p:cNvSpPr/>
          <p:nvPr/>
        </p:nvSpPr>
        <p:spPr>
          <a:xfrm>
            <a:off x="1143000" y="7416761"/>
            <a:ext cx="7667625" cy="2203430"/>
          </a:xfrm>
          <a:prstGeom prst="roundRect">
            <a:avLst>
              <a:gd name="adj" fmla="val 9510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26" name="Shape 22"/>
          <p:cNvSpPr/>
          <p:nvPr/>
        </p:nvSpPr>
        <p:spPr>
          <a:xfrm>
            <a:off x="6410325" y="8158401"/>
            <a:ext cx="2038350" cy="720090"/>
          </a:xfrm>
          <a:prstGeom prst="roundRect">
            <a:avLst>
              <a:gd name="adj" fmla="val 21164"/>
            </a:avLst>
          </a:prstGeom>
          <a:solidFill>
            <a:srgbClr val="8B85D6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27" name="Text 23"/>
          <p:cNvSpPr/>
          <p:nvPr/>
        </p:nvSpPr>
        <p:spPr>
          <a:xfrm>
            <a:off x="6581775" y="8310801"/>
            <a:ext cx="169545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Python</a:t>
            </a:r>
            <a:endParaRPr lang="en-US" sz="2175" dirty="0"/>
          </a:p>
        </p:txBody>
      </p:sp>
      <p:sp>
        <p:nvSpPr>
          <p:cNvPr id="28" name="Text 24"/>
          <p:cNvSpPr/>
          <p:nvPr/>
        </p:nvSpPr>
        <p:spPr>
          <a:xfrm>
            <a:off x="2194679" y="8306276"/>
            <a:ext cx="4047793" cy="46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202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تصحيحات المحقق تعيد ضبط الوكيل، وبلاغ الضحية يتحول لقاعدة كشف تُختبر رجعيًا على كامل البيانات.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44500" y="0"/>
            <a:ext cx="5143500" cy="10287000"/>
          </a:xfrm>
          <a:prstGeom prst="rect">
            <a:avLst/>
          </a:prstGeom>
          <a:solidFill>
            <a:srgbClr val="C36B4E"/>
          </a:solidFill>
          <a:ln/>
        </p:spPr>
        <p:txBody>
          <a:bodyPr/>
          <a:lstStyle/>
          <a:p>
            <a:pPr algn="r" rtl="1"/>
            <a:endParaRPr lang="en-SA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-190500" y="1914525"/>
            <a:ext cx="125730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25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مسار قرار ذكي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-190500" y="2436495"/>
            <a:ext cx="125730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الفكرة</a:t>
            </a:r>
            <a:endParaRPr lang="en-US" sz="4200" dirty="0"/>
          </a:p>
        </p:txBody>
      </p:sp>
      <p:sp>
        <p:nvSpPr>
          <p:cNvPr id="8" name="Text 3"/>
          <p:cNvSpPr/>
          <p:nvPr/>
        </p:nvSpPr>
        <p:spPr>
          <a:xfrm>
            <a:off x="609600" y="3579495"/>
            <a:ext cx="117729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80000"/>
              </a:lnSpc>
              <a:buNone/>
            </a:pPr>
            <a:r>
              <a:rPr lang="en-US" sz="210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محركات كشف الاحتيال اليوم بسيطة: قواعد ودرجة خطورة فقط. لذلك يغرق المحقق في تنبيهات كثيرة — معظمها إنذارات كاذبة، وكثير من الاحتيال الحقيقي لا تتم مراجعته أصلًا.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609600" y="4787265"/>
            <a:ext cx="117729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80000"/>
              </a:lnSpc>
              <a:buNone/>
            </a:pPr>
            <a:r>
              <a:rPr lang="en-US" sz="210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الحل: وكيل ذكي يعمل كمرشّح ثانٍ بعد القواعد. يقرأ السياق الكامل لكل تنبيه، يحسم الحالات السهلة آليًا، ويرسل الصعبة فقط للمحقق مع ملف جاهز.</a:t>
            </a:r>
            <a:endParaRPr lang="en-US" sz="2100" dirty="0"/>
          </a:p>
        </p:txBody>
      </p:sp>
      <p:sp>
        <p:nvSpPr>
          <p:cNvPr id="10" name="Shape 5"/>
          <p:cNvSpPr/>
          <p:nvPr/>
        </p:nvSpPr>
        <p:spPr>
          <a:xfrm>
            <a:off x="952500" y="6128385"/>
            <a:ext cx="11430000" cy="678180"/>
          </a:xfrm>
          <a:prstGeom prst="roundRect">
            <a:avLst>
              <a:gd name="adj" fmla="val 22472"/>
            </a:avLst>
          </a:prstGeom>
          <a:solidFill>
            <a:srgbClr val="8B85D6">
              <a:alpha val="15000"/>
            </a:srgbClr>
          </a:solidFill>
          <a:ln/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6"/>
          <p:cNvSpPr/>
          <p:nvPr/>
        </p:nvSpPr>
        <p:spPr>
          <a:xfrm>
            <a:off x="10801350" y="6280785"/>
            <a:ext cx="14668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950" b="1" dirty="0">
                <a:solidFill>
                  <a:srgbClr val="6C6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سليم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862332" y="6288405"/>
            <a:ext cx="26322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875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يُغلق</a:t>
            </a:r>
            <a:r>
              <a:rPr lang="en-US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875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آليًا</a:t>
            </a:r>
            <a:r>
              <a:rPr lang="ar-SA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</a:t>
            </a:r>
            <a:r>
              <a:rPr lang="en-US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لا يصل للمحقق</a:t>
            </a:r>
            <a:endParaRPr lang="en-US" sz="1875" dirty="0"/>
          </a:p>
        </p:txBody>
      </p:sp>
      <p:sp>
        <p:nvSpPr>
          <p:cNvPr id="13" name="Shape 8"/>
          <p:cNvSpPr/>
          <p:nvPr/>
        </p:nvSpPr>
        <p:spPr>
          <a:xfrm>
            <a:off x="952500" y="6958965"/>
            <a:ext cx="11430000" cy="678180"/>
          </a:xfrm>
          <a:prstGeom prst="roundRect">
            <a:avLst>
              <a:gd name="adj" fmla="val 22472"/>
            </a:avLst>
          </a:prstGeom>
          <a:solidFill>
            <a:srgbClr val="C36B4E">
              <a:alpha val="15000"/>
            </a:srgbClr>
          </a:solidFill>
          <a:ln/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" name="Text 9"/>
          <p:cNvSpPr/>
          <p:nvPr/>
        </p:nvSpPr>
        <p:spPr>
          <a:xfrm>
            <a:off x="10801350" y="7111365"/>
            <a:ext cx="14668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95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احتيال واضح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787084" y="7127452"/>
            <a:ext cx="271498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يُوقف فورًا ويُسجل للمراجعة</a:t>
            </a:r>
            <a:endParaRPr lang="en-US" sz="1875" dirty="0"/>
          </a:p>
        </p:txBody>
      </p:sp>
      <p:sp>
        <p:nvSpPr>
          <p:cNvPr id="16" name="Shape 11"/>
          <p:cNvSpPr/>
          <p:nvPr/>
        </p:nvSpPr>
        <p:spPr>
          <a:xfrm>
            <a:off x="952500" y="7789545"/>
            <a:ext cx="11430000" cy="678180"/>
          </a:xfrm>
          <a:prstGeom prst="roundRect">
            <a:avLst>
              <a:gd name="adj" fmla="val 22472"/>
            </a:avLst>
          </a:prstGeom>
          <a:solidFill>
            <a:srgbClr val="032341">
              <a:alpha val="8000"/>
            </a:srgbClr>
          </a:solidFill>
          <a:ln/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2"/>
          <p:cNvSpPr/>
          <p:nvPr/>
        </p:nvSpPr>
        <p:spPr>
          <a:xfrm>
            <a:off x="10801350" y="7941945"/>
            <a:ext cx="14668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95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غير مؤكد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6535315" y="7949565"/>
            <a:ext cx="396154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فقط هذه </a:t>
            </a:r>
            <a:r>
              <a:rPr lang="en-US" sz="1875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تصل</a:t>
            </a:r>
            <a:r>
              <a:rPr lang="en-US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875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للمحقق</a:t>
            </a:r>
            <a:r>
              <a:rPr lang="ar-SA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</a:t>
            </a:r>
            <a:r>
              <a:rPr lang="en-US" sz="18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مع ملف جاهز</a:t>
            </a:r>
            <a:endParaRPr lang="en-US" sz="1875" dirty="0"/>
          </a:p>
        </p:txBody>
      </p:sp>
      <p:pic>
        <p:nvPicPr>
          <p:cNvPr id="19" name="Google Shape;180;p19" title="shutterstock_452767891.jpg">
            <a:extLst>
              <a:ext uri="{FF2B5EF4-FFF2-40B4-BE49-F238E27FC236}">
                <a16:creationId xmlns:a16="http://schemas.microsoft.com/office/drawing/2014/main" id="{37D5AD6B-30EF-E3F0-4A3C-706A94F6DA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0670" r="56019" b="2220"/>
          <a:stretch/>
        </p:blipFill>
        <p:spPr>
          <a:xfrm>
            <a:off x="13144500" y="0"/>
            <a:ext cx="5143500" cy="10287000"/>
          </a:xfrm>
          <a:prstGeom prst="rect">
            <a:avLst/>
          </a:prstGeom>
          <a:solidFill>
            <a:srgbClr val="C36B4E"/>
          </a:solidFill>
          <a:ln>
            <a:noFill/>
          </a:ln>
        </p:spPr>
      </p:pic>
      <p:pic>
        <p:nvPicPr>
          <p:cNvPr id="20" name="Google Shape;181;p19" title="shutterstock_2308548581.png">
            <a:extLst>
              <a:ext uri="{FF2B5EF4-FFF2-40B4-BE49-F238E27FC236}">
                <a16:creationId xmlns:a16="http://schemas.microsoft.com/office/drawing/2014/main" id="{12FB05F3-7A87-AF7B-F11A-87A3B203EE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7570"/>
          <a:stretch/>
        </p:blipFill>
        <p:spPr>
          <a:xfrm>
            <a:off x="13630408" y="671075"/>
            <a:ext cx="3630180" cy="8944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342900" y="952500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كيفية توفير البيانات وكيفية استخدامها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63905" y="2038350"/>
            <a:ext cx="16285845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175" dirty="0">
                <a:solidFill>
                  <a:srgbClr val="F6E7DC">
                    <a:alpha val="80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البيانات المصرفية الحقيقية يصعب الحصول عليها، لذلك اعتمدنا استراتيجيتين:</a:t>
            </a:r>
            <a:endParaRPr lang="en-US" sz="2175" dirty="0"/>
          </a:p>
        </p:txBody>
      </p:sp>
      <p:sp>
        <p:nvSpPr>
          <p:cNvPr id="5" name="Shape 2"/>
          <p:cNvSpPr/>
          <p:nvPr/>
        </p:nvSpPr>
        <p:spPr>
          <a:xfrm>
            <a:off x="9401175" y="2984183"/>
            <a:ext cx="7648575" cy="2260283"/>
          </a:xfrm>
          <a:prstGeom prst="roundRect">
            <a:avLst>
              <a:gd name="adj" fmla="val 10114"/>
            </a:avLst>
          </a:prstGeom>
          <a:solidFill>
            <a:srgbClr val="F6E7DC">
              <a:alpha val="8000"/>
            </a:srgbClr>
          </a:solidFill>
          <a:ln/>
        </p:spPr>
        <p:txBody>
          <a:bodyPr/>
          <a:lstStyle/>
          <a:p>
            <a:pPr marL="0" algn="l" defTabSz="914400" rtl="0" eaLnBrk="1" latinLnBrk="0" hangingPunct="1"/>
            <a:endParaRPr lang="en-SA"/>
          </a:p>
        </p:txBody>
      </p:sp>
      <p:sp>
        <p:nvSpPr>
          <p:cNvPr id="6" name="Text 3"/>
          <p:cNvSpPr/>
          <p:nvPr/>
        </p:nvSpPr>
        <p:spPr>
          <a:xfrm>
            <a:off x="9350807" y="3400424"/>
            <a:ext cx="7491413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25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المرحلة ١ — بيانات مولّدة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9820275" y="3963353"/>
            <a:ext cx="7014686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75000"/>
              </a:lnSpc>
              <a:buNone/>
            </a:pPr>
            <a:r>
              <a:rPr lang="en-US" sz="2025" dirty="0">
                <a:solidFill>
                  <a:srgbClr val="F6E7DC">
                    <a:alpha val="9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ننشئ معاملات اصطناعية تشبه الواقع في توزيعها، ونضع بينها حالات احتيال معروفة عمدًا — لنتأكد أن النظام يلتقطها.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1238250" y="2984183"/>
            <a:ext cx="7648575" cy="2260283"/>
          </a:xfrm>
          <a:prstGeom prst="roundRect">
            <a:avLst>
              <a:gd name="adj" fmla="val 10114"/>
            </a:avLst>
          </a:prstGeom>
          <a:solidFill>
            <a:srgbClr val="F6E7DC">
              <a:alpha val="8000"/>
            </a:srgbClr>
          </a:solidFill>
          <a:ln/>
        </p:spPr>
        <p:txBody>
          <a:bodyPr/>
          <a:lstStyle/>
          <a:p>
            <a:pPr marL="0" algn="l" defTabSz="914400" rtl="0" eaLnBrk="1" latinLnBrk="0" hangingPunct="1"/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1180623" y="3400424"/>
            <a:ext cx="7491413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250" b="1" dirty="0">
                <a:solidFill>
                  <a:srgbClr val="8B85D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المرحلة ٢ — بيانات مفتوحة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657350" y="3963353"/>
            <a:ext cx="7014686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75000"/>
              </a:lnSpc>
              <a:buNone/>
            </a:pPr>
            <a:r>
              <a:rPr lang="en-US" sz="2025" dirty="0">
                <a:solidFill>
                  <a:srgbClr val="F6E7DC">
                    <a:alpha val="9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نختبر النظام على IBM AML HI-Small — ٥.١ مليون معاملة بتصنيف حقيقي لأنماط الغسيل — لنقيس الدقة والتغطية فعليًا.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-342900" y="5815965"/>
            <a:ext cx="17392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مسار البيانات داخل النظام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4375131" y="6444615"/>
            <a:ext cx="2674620" cy="739140"/>
          </a:xfrm>
          <a:prstGeom prst="roundRect">
            <a:avLst>
              <a:gd name="adj" fmla="val 50000"/>
            </a:avLst>
          </a:prstGeom>
          <a:solidFill>
            <a:srgbClr val="F6E7DC">
              <a:alpha val="12000"/>
            </a:srgbClr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14582661" y="6635115"/>
            <a:ext cx="225955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875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جمع البيانات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13917931" y="6585585"/>
            <a:ext cx="381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1090910" y="6444615"/>
            <a:ext cx="2674620" cy="739140"/>
          </a:xfrm>
          <a:prstGeom prst="roundRect">
            <a:avLst>
              <a:gd name="adj" fmla="val 50000"/>
            </a:avLst>
          </a:prstGeom>
          <a:solidFill>
            <a:srgbClr val="F6E7DC">
              <a:alpha val="12000"/>
            </a:srgbClr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11298441" y="6635115"/>
            <a:ext cx="225955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875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تجهيز المؤشرات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10633710" y="6585585"/>
            <a:ext cx="381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7806690" y="6444615"/>
            <a:ext cx="2674620" cy="739140"/>
          </a:xfrm>
          <a:prstGeom prst="roundRect">
            <a:avLst>
              <a:gd name="adj" fmla="val 50000"/>
            </a:avLst>
          </a:prstGeom>
          <a:solidFill>
            <a:srgbClr val="F6E7DC">
              <a:alpha val="12000"/>
            </a:srgbClr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9" name="Text 16"/>
          <p:cNvSpPr/>
          <p:nvPr/>
        </p:nvSpPr>
        <p:spPr>
          <a:xfrm>
            <a:off x="8014221" y="6635115"/>
            <a:ext cx="225955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875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قواعد الاشتباه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7349490" y="6585585"/>
            <a:ext cx="381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522470" y="6444615"/>
            <a:ext cx="2674620" cy="739140"/>
          </a:xfrm>
          <a:prstGeom prst="roundRect">
            <a:avLst>
              <a:gd name="adj" fmla="val 50000"/>
            </a:avLst>
          </a:prstGeom>
          <a:solidFill>
            <a:srgbClr val="F6E7DC">
              <a:alpha val="12000"/>
            </a:srgbClr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22" name="Text 19"/>
          <p:cNvSpPr/>
          <p:nvPr/>
        </p:nvSpPr>
        <p:spPr>
          <a:xfrm>
            <a:off x="4730001" y="6635115"/>
            <a:ext cx="225955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875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تحليل الوكيل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4065270" y="6585585"/>
            <a:ext cx="381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238250" y="6444615"/>
            <a:ext cx="2674620" cy="739140"/>
          </a:xfrm>
          <a:prstGeom prst="roundRect">
            <a:avLst>
              <a:gd name="adj" fmla="val 50000"/>
            </a:avLst>
          </a:prstGeom>
          <a:solidFill>
            <a:srgbClr val="C36B4E"/>
          </a:solidFill>
          <a:ln/>
        </p:spPr>
        <p:txBody>
          <a:bodyPr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25" name="Text 22"/>
          <p:cNvSpPr/>
          <p:nvPr/>
        </p:nvSpPr>
        <p:spPr>
          <a:xfrm>
            <a:off x="1445781" y="6635115"/>
            <a:ext cx="225955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18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قرار أو ملف قضية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42900" y="952500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مواءمة الفكرة: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763905" y="2133600"/>
            <a:ext cx="1628584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85000"/>
              </a:lnSpc>
              <a:buNone/>
            </a:pPr>
            <a:r>
              <a:rPr lang="en-US" sz="225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تتماشى الفكرة مع هدف الهاكاثون لأنها تستخدم الذكاء الاصطناعي لتحسين الكفاءة وتقليل زمن القرار في مجال حساس وعالي الأثر. النظام لا </a:t>
            </a:r>
            <a:r>
              <a:rPr lang="en-US" sz="2250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يستبدل</a:t>
            </a:r>
            <a:r>
              <a:rPr lang="en-US" sz="225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2250" dirty="0" err="1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المحقق</a:t>
            </a:r>
            <a:r>
              <a:rPr lang="ar-SA" sz="225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</a:t>
            </a:r>
            <a:r>
              <a:rPr lang="en-US" sz="225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بل يرفع إنتاجيته عبر فرز التنبيهات وتجهيز السياق والتحليل قبل وصول الحالة إليه.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2058650" y="3762375"/>
            <a:ext cx="4991100" cy="2816543"/>
          </a:xfrm>
          <a:prstGeom prst="roundRect">
            <a:avLst>
              <a:gd name="adj" fmla="val 8116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r" rtl="1"/>
            <a:endParaRPr lang="en-SA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887700" y="4143375"/>
            <a:ext cx="800100" cy="8001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490124" y="5121275"/>
            <a:ext cx="1290809" cy="60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85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أسرع</a:t>
            </a:r>
            <a:endParaRPr lang="en-US" sz="2850" dirty="0"/>
          </a:p>
        </p:txBody>
      </p:sp>
      <p:sp>
        <p:nvSpPr>
          <p:cNvPr id="9" name="Text 4"/>
          <p:cNvSpPr/>
          <p:nvPr/>
        </p:nvSpPr>
        <p:spPr>
          <a:xfrm>
            <a:off x="12991088" y="5789295"/>
            <a:ext cx="3807614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195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معالجة التنبيه تنزل من ساعات إلى دقائق.</a:t>
            </a:r>
            <a:endParaRPr lang="en-US" sz="1950" dirty="0"/>
          </a:p>
        </p:txBody>
      </p:sp>
      <p:sp>
        <p:nvSpPr>
          <p:cNvPr id="10" name="Shape 5"/>
          <p:cNvSpPr/>
          <p:nvPr/>
        </p:nvSpPr>
        <p:spPr>
          <a:xfrm>
            <a:off x="6648450" y="3762375"/>
            <a:ext cx="4991100" cy="2816543"/>
          </a:xfrm>
          <a:prstGeom prst="roundRect">
            <a:avLst>
              <a:gd name="adj" fmla="val 8116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r" rtl="1"/>
            <a:endParaRPr lang="en-SA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0" y="4143375"/>
            <a:ext cx="800100" cy="8001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26698" y="5095875"/>
            <a:ext cx="627102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85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أدق</a:t>
            </a:r>
            <a:endParaRPr lang="en-US" sz="2850" dirty="0"/>
          </a:p>
        </p:txBody>
      </p:sp>
      <p:sp>
        <p:nvSpPr>
          <p:cNvPr id="13" name="Text 7"/>
          <p:cNvSpPr/>
          <p:nvPr/>
        </p:nvSpPr>
        <p:spPr>
          <a:xfrm>
            <a:off x="7464981" y="5789295"/>
            <a:ext cx="3926998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195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الإنذارات الكاذبة تُفرز قبل وصولها للمحقق.</a:t>
            </a:r>
            <a:endParaRPr lang="en-US" sz="1950" dirty="0"/>
          </a:p>
        </p:txBody>
      </p:sp>
      <p:sp>
        <p:nvSpPr>
          <p:cNvPr id="14" name="Shape 8"/>
          <p:cNvSpPr/>
          <p:nvPr/>
        </p:nvSpPr>
        <p:spPr>
          <a:xfrm>
            <a:off x="1238250" y="3762375"/>
            <a:ext cx="4991100" cy="2816543"/>
          </a:xfrm>
          <a:prstGeom prst="roundRect">
            <a:avLst>
              <a:gd name="adj" fmla="val 8116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r" rtl="1"/>
            <a:endParaRPr lang="en-SA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67300" y="4143375"/>
            <a:ext cx="800100" cy="8001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00042" y="5095875"/>
            <a:ext cx="843558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85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أوسع</a:t>
            </a:r>
            <a:endParaRPr lang="en-US" sz="2850" dirty="0"/>
          </a:p>
        </p:txBody>
      </p:sp>
      <p:sp>
        <p:nvSpPr>
          <p:cNvPr id="17" name="Text 10"/>
          <p:cNvSpPr/>
          <p:nvPr/>
        </p:nvSpPr>
        <p:spPr>
          <a:xfrm>
            <a:off x="2478048" y="5789295"/>
            <a:ext cx="3491033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1950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تنبيهات أكثر تُعالج يوميًا بنفس الفريق.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85725" y="2795588"/>
            <a:ext cx="124682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ملخص</a:t>
            </a:r>
            <a:endParaRPr lang="en-US" sz="4200" dirty="0"/>
          </a:p>
        </p:txBody>
      </p:sp>
      <p:sp>
        <p:nvSpPr>
          <p:cNvPr id="7" name="Shape 1"/>
          <p:cNvSpPr/>
          <p:nvPr/>
        </p:nvSpPr>
        <p:spPr>
          <a:xfrm>
            <a:off x="11715750" y="4014788"/>
            <a:ext cx="666750" cy="666750"/>
          </a:xfrm>
          <a:prstGeom prst="ellipse">
            <a:avLst/>
          </a:prstGeom>
          <a:solidFill>
            <a:srgbClr val="03234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2"/>
          <p:cNvSpPr/>
          <p:nvPr/>
        </p:nvSpPr>
        <p:spPr>
          <a:xfrm>
            <a:off x="11677650" y="4014788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١</a:t>
            </a:r>
            <a:endParaRPr lang="en-US" sz="2400" dirty="0"/>
          </a:p>
        </p:txBody>
      </p:sp>
      <p:sp>
        <p:nvSpPr>
          <p:cNvPr id="9" name="Text 3"/>
          <p:cNvSpPr/>
          <p:nvPr/>
        </p:nvSpPr>
        <p:spPr>
          <a:xfrm>
            <a:off x="5250835" y="4090987"/>
            <a:ext cx="6384162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1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قواعد آلية تكشف المؤشرات الخطرة في كل معاملة فور حدوثها.</a:t>
            </a:r>
            <a:endParaRPr lang="en-US" sz="2175" dirty="0"/>
          </a:p>
        </p:txBody>
      </p:sp>
      <p:sp>
        <p:nvSpPr>
          <p:cNvPr id="10" name="Shape 4"/>
          <p:cNvSpPr/>
          <p:nvPr/>
        </p:nvSpPr>
        <p:spPr>
          <a:xfrm>
            <a:off x="11715750" y="4967288"/>
            <a:ext cx="666750" cy="666750"/>
          </a:xfrm>
          <a:prstGeom prst="ellipse">
            <a:avLst/>
          </a:prstGeom>
          <a:solidFill>
            <a:srgbClr val="C36B4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5"/>
          <p:cNvSpPr/>
          <p:nvPr/>
        </p:nvSpPr>
        <p:spPr>
          <a:xfrm>
            <a:off x="11677650" y="4967288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٢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6380322" y="5043488"/>
            <a:ext cx="5220791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1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وكيل ذكي يحلل كل تنبيه ويشرح حكمه بلغة بسيطة.</a:t>
            </a:r>
            <a:endParaRPr lang="en-US" sz="2175" dirty="0"/>
          </a:p>
        </p:txBody>
      </p:sp>
      <p:sp>
        <p:nvSpPr>
          <p:cNvPr id="13" name="Shape 7"/>
          <p:cNvSpPr/>
          <p:nvPr/>
        </p:nvSpPr>
        <p:spPr>
          <a:xfrm>
            <a:off x="11715750" y="5919788"/>
            <a:ext cx="666750" cy="666750"/>
          </a:xfrm>
          <a:prstGeom prst="ellipse">
            <a:avLst/>
          </a:prstGeom>
          <a:solidFill>
            <a:srgbClr val="8B85D6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Text 8"/>
          <p:cNvSpPr/>
          <p:nvPr/>
        </p:nvSpPr>
        <p:spPr>
          <a:xfrm>
            <a:off x="11677650" y="5919788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٣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5036999" y="5995987"/>
            <a:ext cx="6604413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1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الحالات غير المؤكدة فقط تصل للمحقق — مع ملف قضية جاهز.</a:t>
            </a:r>
            <a:endParaRPr lang="en-US" sz="2175" dirty="0"/>
          </a:p>
        </p:txBody>
      </p:sp>
      <p:sp>
        <p:nvSpPr>
          <p:cNvPr id="16" name="Text 10"/>
          <p:cNvSpPr/>
          <p:nvPr/>
        </p:nvSpPr>
        <p:spPr>
          <a:xfrm>
            <a:off x="707708" y="7005638"/>
            <a:ext cx="116747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en-US" sz="2250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النتيجة: قرارات أسرع، تراكم أقل، وجودة أعلى — دون زيادة عدد المحققين.</a:t>
            </a:r>
            <a:endParaRPr lang="en-US" sz="2250" dirty="0"/>
          </a:p>
        </p:txBody>
      </p:sp>
      <p:pic>
        <p:nvPicPr>
          <p:cNvPr id="17" name="Google Shape;192;p20" title="shutterstock_2303267969.jpg">
            <a:extLst>
              <a:ext uri="{FF2B5EF4-FFF2-40B4-BE49-F238E27FC236}">
                <a16:creationId xmlns:a16="http://schemas.microsoft.com/office/drawing/2014/main" id="{84528B53-35F4-2BA9-6047-E3B5260E7D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2022"/>
          <a:stretch/>
        </p:blipFill>
        <p:spPr>
          <a:xfrm>
            <a:off x="12668249" y="-1"/>
            <a:ext cx="5619751" cy="10213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93;p20" title="shutterstock_2627921973.png">
            <a:extLst>
              <a:ext uri="{FF2B5EF4-FFF2-40B4-BE49-F238E27FC236}">
                <a16:creationId xmlns:a16="http://schemas.microsoft.com/office/drawing/2014/main" id="{285FC7F4-EB56-43FF-97BC-64AA85C3D10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30041"/>
          <a:stretch/>
        </p:blipFill>
        <p:spPr>
          <a:xfrm>
            <a:off x="12463253" y="4719638"/>
            <a:ext cx="5619751" cy="5544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42900" y="952500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الاختبار/التحقق: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763905" y="2133600"/>
            <a:ext cx="16285845" cy="53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80000"/>
              </a:lnSpc>
              <a:buNone/>
            </a:pPr>
            <a:r>
              <a:rPr lang="en-US" sz="2175" dirty="0">
                <a:solidFill>
                  <a:srgbClr val="3A4A5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نثبت الفكرة بتجربة كاملة: نمرر معاملات من البيانات، تعمل قواعد الاشتباه، تصل التنبيهات إلى طبقة التحليل، ويخرج ملف قضية مختصر.</a:t>
            </a:r>
            <a:endParaRPr lang="en-US" sz="2175" dirty="0"/>
          </a:p>
        </p:txBody>
      </p:sp>
      <p:sp>
        <p:nvSpPr>
          <p:cNvPr id="6" name="Text 2"/>
          <p:cNvSpPr/>
          <p:nvPr/>
        </p:nvSpPr>
        <p:spPr>
          <a:xfrm>
            <a:off x="-342900" y="3107055"/>
            <a:ext cx="1739265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175" b="1" dirty="0">
                <a:solidFill>
                  <a:srgbClr val="C36B4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مؤشرات نجاح التحقق:</a:t>
            </a:r>
            <a:endParaRPr lang="en-US" sz="2175" dirty="0"/>
          </a:p>
        </p:txBody>
      </p:sp>
      <p:sp>
        <p:nvSpPr>
          <p:cNvPr id="7" name="Shape 3"/>
          <p:cNvSpPr/>
          <p:nvPr/>
        </p:nvSpPr>
        <p:spPr>
          <a:xfrm>
            <a:off x="1238250" y="3789045"/>
            <a:ext cx="15811500" cy="102870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8" name="Shape 4"/>
          <p:cNvSpPr/>
          <p:nvPr/>
        </p:nvSpPr>
        <p:spPr>
          <a:xfrm>
            <a:off x="16173450" y="4036695"/>
            <a:ext cx="533400" cy="533400"/>
          </a:xfrm>
          <a:prstGeom prst="ellipse">
            <a:avLst/>
          </a:prstGeom>
          <a:solidFill>
            <a:srgbClr val="032341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16135350" y="403669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25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0949994" y="4094904"/>
            <a:ext cx="5392954" cy="46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٩٥٪ من الإغلاقات الآلية صحيحة — أمان الإغلاق الآلي (اختبار n=100)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1238250" y="5046345"/>
            <a:ext cx="15811500" cy="102870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2" name="Shape 8"/>
          <p:cNvSpPr/>
          <p:nvPr/>
        </p:nvSpPr>
        <p:spPr>
          <a:xfrm>
            <a:off x="16173450" y="5293995"/>
            <a:ext cx="533400" cy="533400"/>
          </a:xfrm>
          <a:prstGeom prst="ellipse">
            <a:avLst/>
          </a:prstGeom>
          <a:solidFill>
            <a:srgbClr val="C36B4E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3" name="Text 9"/>
          <p:cNvSpPr/>
          <p:nvPr/>
        </p:nvSpPr>
        <p:spPr>
          <a:xfrm>
            <a:off x="16135350" y="529399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2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0371045" y="5360670"/>
            <a:ext cx="576563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٨٦٪ من الاحتيال الحقيقي يصل إلى محقق (الاستدعاء)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1238250" y="6303645"/>
            <a:ext cx="15811500" cy="102870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32341">
                <a:alpha val="8000"/>
              </a:srgbClr>
            </a:outerShdw>
          </a:effectLst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16173450" y="6551295"/>
            <a:ext cx="533400" cy="533400"/>
          </a:xfrm>
          <a:prstGeom prst="ellipse">
            <a:avLst/>
          </a:prstGeom>
          <a:solidFill>
            <a:srgbClr val="8B85D6"/>
          </a:solidFill>
          <a:ln/>
        </p:spPr>
        <p:txBody>
          <a:bodyPr/>
          <a:lstStyle/>
          <a:p>
            <a:pPr algn="ctr" rtl="1"/>
            <a:endParaRPr lang="en-SA"/>
          </a:p>
        </p:txBody>
      </p:sp>
      <p:sp>
        <p:nvSpPr>
          <p:cNvPr id="17" name="Text 13"/>
          <p:cNvSpPr/>
          <p:nvPr/>
        </p:nvSpPr>
        <p:spPr>
          <a:xfrm>
            <a:off x="16135350" y="655129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2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2250" dirty="0"/>
          </a:p>
        </p:txBody>
      </p:sp>
      <p:sp>
        <p:nvSpPr>
          <p:cNvPr id="18" name="Text 14"/>
          <p:cNvSpPr/>
          <p:nvPr/>
        </p:nvSpPr>
        <p:spPr>
          <a:xfrm>
            <a:off x="11538665" y="6601037"/>
            <a:ext cx="463026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03234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~٣٨٪ توفيرًا في عبء عمل المحققين — قياس فعلي لا تقدير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6249650" y="232410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032341"/>
          </a:solidFill>
          <a:ln/>
        </p:spPr>
        <p:txBody>
          <a:bodyPr/>
          <a:lstStyle/>
          <a:p>
            <a:pPr marL="0" defTabSz="914400" eaLnBrk="1" latinLnBrk="0" hangingPunct="1"/>
            <a:endParaRPr lang="en-SA"/>
          </a:p>
        </p:txBody>
      </p:sp>
      <p:sp>
        <p:nvSpPr>
          <p:cNvPr id="6" name="Text 2"/>
          <p:cNvSpPr/>
          <p:nvPr/>
        </p:nvSpPr>
        <p:spPr>
          <a:xfrm>
            <a:off x="16211550" y="23241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١</a:t>
            </a:r>
            <a:endParaRPr lang="en-US" sz="2700">
              <a:latin typeface="Calibri"/>
              <a:ea typeface="Calibri"/>
              <a:cs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13111639" y="3291840"/>
            <a:ext cx="403383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rtl="1"/>
            <a:r>
              <a:rPr lang="en-US" sz="2250" b="1" err="1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معاملة</a:t>
            </a:r>
            <a:r>
              <a:rPr lang="en-US" sz="2250" b="1" dirty="0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 </a:t>
            </a:r>
            <a:r>
              <a:rPr lang="en-US" sz="2250" b="1" err="1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جديدة</a:t>
            </a:r>
            <a:r>
              <a:rPr lang="en-US" sz="2250" b="1" dirty="0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 </a:t>
            </a:r>
            <a:endParaRPr lang="en-US" sz="2250">
              <a:latin typeface="Aptos"/>
              <a:ea typeface="Calibri"/>
              <a:cs typeface="Calibri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382625" y="3931920"/>
            <a:ext cx="3777139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تدخل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معاملة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مشبوهة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إلى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النظام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مباشرة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950">
              <a:latin typeface="Apto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2201525" y="232410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C36B4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6"/>
          <p:cNvSpPr/>
          <p:nvPr/>
        </p:nvSpPr>
        <p:spPr>
          <a:xfrm>
            <a:off x="12163425" y="23241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٢</a:t>
            </a:r>
            <a:endParaRPr lang="en-US" sz="27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063514" y="3291840"/>
            <a:ext cx="403383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250" b="1" dirty="0" err="1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إطلاق</a:t>
            </a:r>
            <a:r>
              <a:rPr lang="en-US" sz="2250" b="1" dirty="0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 </a:t>
            </a:r>
            <a:r>
              <a:rPr lang="en-US" sz="2250" b="1" dirty="0" err="1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التنبيه</a:t>
            </a:r>
            <a:endParaRPr lang="en-US" sz="2250" err="1">
              <a:latin typeface="Aptos"/>
              <a:ea typeface="IBM Plex Sans Arabic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334500" y="3931920"/>
            <a:ext cx="3777139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algn="r" rtl="1">
              <a:lnSpc>
                <a:spcPct val="165000"/>
              </a:lnSpc>
            </a:pPr>
            <a:r>
              <a:rPr lang="en-US" sz="1950" dirty="0" err="1">
                <a:solidFill>
                  <a:srgbClr val="3A4A5E"/>
                </a:solidFill>
                <a:ea typeface="IBM Plex Sans Arabic"/>
                <a:cs typeface="+mn-lt"/>
              </a:rPr>
              <a:t>الشاشة</a:t>
            </a:r>
            <a:r>
              <a:rPr lang="en-US" sz="1950" dirty="0">
                <a:solidFill>
                  <a:srgbClr val="3A4A5E"/>
                </a:solidFill>
                <a:ea typeface="IBM Plex Sans Arabic"/>
                <a:cs typeface="+mn-lt"/>
              </a:rPr>
              <a:t> </a:t>
            </a:r>
            <a:r>
              <a:rPr lang="en-US" sz="1950" dirty="0" err="1">
                <a:solidFill>
                  <a:srgbClr val="3A4A5E"/>
                </a:solidFill>
                <a:ea typeface="IBM Plex Sans Arabic"/>
                <a:cs typeface="+mn-lt"/>
              </a:rPr>
              <a:t>تعرض</a:t>
            </a:r>
            <a:r>
              <a:rPr lang="en-US" sz="1950" dirty="0">
                <a:solidFill>
                  <a:srgbClr val="3A4A5E"/>
                </a:solidFill>
                <a:ea typeface="IBM Plex Sans Arabic"/>
                <a:cs typeface="+mn-lt"/>
              </a:rPr>
              <a:t> </a:t>
            </a:r>
            <a:r>
              <a:rPr lang="en-US" sz="1950" dirty="0" err="1">
                <a:solidFill>
                  <a:srgbClr val="3A4A5E"/>
                </a:solidFill>
                <a:ea typeface="IBM Plex Sans Arabic"/>
                <a:cs typeface="+mn-lt"/>
              </a:rPr>
              <a:t>القواعد</a:t>
            </a:r>
            <a:r>
              <a:rPr lang="en-US" sz="1950" dirty="0">
                <a:solidFill>
                  <a:srgbClr val="3A4A5E"/>
                </a:solidFill>
                <a:ea typeface="IBM Plex Sans Arabic"/>
                <a:cs typeface="+mn-lt"/>
              </a:rPr>
              <a:t> </a:t>
            </a:r>
            <a:r>
              <a:rPr lang="en-US" sz="1950" dirty="0" err="1">
                <a:solidFill>
                  <a:srgbClr val="3A4A5E"/>
                </a:solidFill>
                <a:ea typeface="IBM Plex Sans Arabic"/>
                <a:cs typeface="+mn-lt"/>
              </a:rPr>
              <a:t>التي</a:t>
            </a:r>
            <a:r>
              <a:rPr lang="en-US" sz="1950" dirty="0">
                <a:solidFill>
                  <a:srgbClr val="3A4A5E"/>
                </a:solidFill>
                <a:ea typeface="IBM Plex Sans Arabic"/>
                <a:cs typeface="+mn-lt"/>
              </a:rPr>
              <a:t> </a:t>
            </a:r>
            <a:r>
              <a:rPr lang="en-US" sz="1950" dirty="0" err="1">
                <a:solidFill>
                  <a:srgbClr val="3A4A5E"/>
                </a:solidFill>
                <a:ea typeface="IBM Plex Sans Arabic"/>
                <a:cs typeface="+mn-lt"/>
              </a:rPr>
              <a:t>أطلقت</a:t>
            </a:r>
            <a:r>
              <a:rPr lang="en-US" sz="1950" dirty="0">
                <a:solidFill>
                  <a:srgbClr val="3A4A5E"/>
                </a:solidFill>
                <a:ea typeface="IBM Plex Sans Arabic"/>
                <a:cs typeface="+mn-lt"/>
              </a:rPr>
              <a:t> </a:t>
            </a:r>
            <a:r>
              <a:rPr lang="en-US" sz="1950" dirty="0" err="1">
                <a:solidFill>
                  <a:srgbClr val="3A4A5E"/>
                </a:solidFill>
                <a:ea typeface="IBM Plex Sans Arabic"/>
                <a:cs typeface="+mn-lt"/>
              </a:rPr>
              <a:t>التنبيه</a:t>
            </a:r>
            <a:r>
              <a:rPr lang="en-US" sz="1950" dirty="0">
                <a:solidFill>
                  <a:srgbClr val="3A4A5E"/>
                </a:solidFill>
                <a:ea typeface="IBM Plex Sans Arabic"/>
                <a:cs typeface="+mn-lt"/>
              </a:rPr>
              <a:t> </a:t>
            </a:r>
            <a:r>
              <a:rPr lang="en-US" sz="1950" dirty="0" err="1">
                <a:solidFill>
                  <a:srgbClr val="3A4A5E"/>
                </a:solidFill>
                <a:ea typeface="IBM Plex Sans Arabic"/>
                <a:cs typeface="+mn-lt"/>
              </a:rPr>
              <a:t>وسببها</a:t>
            </a:r>
            <a:r>
              <a:rPr lang="en-US" sz="1950" dirty="0">
                <a:solidFill>
                  <a:srgbClr val="3A4A5E"/>
                </a:solidFill>
                <a:ea typeface="IBM Plex Sans Arabic"/>
                <a:cs typeface="+mn-lt"/>
              </a:rPr>
              <a:t>.</a:t>
            </a:r>
            <a:endParaRPr lang="en-US" sz="1950"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153400" y="232410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8B85D6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Text 10"/>
          <p:cNvSpPr/>
          <p:nvPr/>
        </p:nvSpPr>
        <p:spPr>
          <a:xfrm>
            <a:off x="8115300" y="23241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٣</a:t>
            </a:r>
            <a:endParaRPr lang="en-US" sz="270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15389" y="3291840"/>
            <a:ext cx="403383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250" b="1" dirty="0" err="1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تحليل</a:t>
            </a:r>
            <a:r>
              <a:rPr lang="en-US" sz="2250" b="1" dirty="0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 </a:t>
            </a:r>
            <a:r>
              <a:rPr lang="en-US" sz="2250" b="1" dirty="0" err="1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الوكيل</a:t>
            </a:r>
            <a:endParaRPr lang="en-US" sz="2250" err="1">
              <a:latin typeface="Aptos"/>
              <a:ea typeface="Calibri"/>
              <a:cs typeface="Calibri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286375" y="3931920"/>
            <a:ext cx="3777139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يظهر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التحليل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مع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الحكم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: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سليم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،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احتيال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،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أو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غير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مؤكد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950">
              <a:latin typeface="Apto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105275" y="232410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03234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4"/>
          <p:cNvSpPr/>
          <p:nvPr/>
        </p:nvSpPr>
        <p:spPr>
          <a:xfrm>
            <a:off x="4067175" y="23241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٤</a:t>
            </a:r>
            <a:endParaRPr lang="en-US" sz="27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967264" y="3291840"/>
            <a:ext cx="403383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250" b="1" dirty="0" err="1">
                <a:solidFill>
                  <a:srgbClr val="032341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ملف</a:t>
            </a:r>
            <a:r>
              <a:rPr lang="en-US" sz="2250" b="1" dirty="0">
                <a:solidFill>
                  <a:srgbClr val="032341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2250" b="1" dirty="0" err="1">
                <a:solidFill>
                  <a:srgbClr val="032341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المحقق</a:t>
            </a:r>
            <a:endParaRPr lang="en-US" sz="2250" err="1">
              <a:latin typeface="Apto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238250" y="3931920"/>
            <a:ext cx="3777139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65000"/>
              </a:lnSpc>
              <a:buNone/>
            </a:pP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للحالة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غير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المؤكدة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: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البيانات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،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أسباب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الاشتباه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، </a:t>
            </a:r>
            <a:r>
              <a:rPr lang="en-US" sz="1950" dirty="0" err="1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والتوصية</a:t>
            </a:r>
            <a:r>
              <a:rPr lang="en-US" sz="1950" dirty="0">
                <a:solidFill>
                  <a:srgbClr val="3A4A5E"/>
                </a:solidFill>
                <a:latin typeface="Aptos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950">
              <a:latin typeface="Apto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A5EDDC97-7E9D-5C4E-2C65-2DAFE6AC0F32}"/>
              </a:ext>
            </a:extLst>
          </p:cNvPr>
          <p:cNvSpPr/>
          <p:nvPr/>
        </p:nvSpPr>
        <p:spPr>
          <a:xfrm>
            <a:off x="-232833" y="935567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rtl="1"/>
            <a:r>
              <a:rPr lang="en-US" sz="4400" b="1" dirty="0" err="1">
                <a:solidFill>
                  <a:srgbClr val="032341"/>
                </a:solidFill>
                <a:latin typeface="Aptos"/>
                <a:ea typeface="+mn-lt"/>
                <a:cs typeface="+mn-lt"/>
              </a:rPr>
              <a:t>العرض</a:t>
            </a:r>
            <a:r>
              <a:rPr lang="en-US" sz="4400" b="1" dirty="0">
                <a:solidFill>
                  <a:srgbClr val="0323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032341"/>
                </a:solidFill>
                <a:latin typeface="Aptos"/>
                <a:ea typeface="+mn-lt"/>
                <a:cs typeface="+mn-lt"/>
              </a:rPr>
              <a:t>التوضيحي</a:t>
            </a:r>
            <a:r>
              <a:rPr lang="en-US" sz="4400" b="1" dirty="0">
                <a:solidFill>
                  <a:srgbClr val="032341"/>
                </a:solidFill>
                <a:latin typeface="Aptos"/>
                <a:ea typeface="Calibri"/>
                <a:cs typeface="Calibri"/>
              </a:rPr>
              <a:t>/</a:t>
            </a:r>
            <a:r>
              <a:rPr lang="en-US" sz="4400" b="1" dirty="0" err="1">
                <a:solidFill>
                  <a:srgbClr val="032341"/>
                </a:solidFill>
                <a:latin typeface="Aptos"/>
                <a:ea typeface="+mn-lt"/>
                <a:cs typeface="+mn-lt"/>
              </a:rPr>
              <a:t>المحاكاة</a:t>
            </a:r>
            <a:r>
              <a:rPr lang="en-US" sz="4400" b="1" dirty="0">
                <a:solidFill>
                  <a:srgbClr val="032341"/>
                </a:solidFill>
                <a:latin typeface="Aptos"/>
                <a:ea typeface="IBM Plex Sans Arabic"/>
                <a:cs typeface="IBM Plex Sans Arabic" pitchFamily="34" charset="-120"/>
              </a:rPr>
              <a:t>:</a:t>
            </a:r>
            <a:endParaRPr lang="en-US" sz="4400">
              <a:latin typeface="Aptos"/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BF23A1-8412-297A-E4A2-D2C6407232BE}"/>
              </a:ext>
            </a:extLst>
          </p:cNvPr>
          <p:cNvSpPr txBox="1"/>
          <p:nvPr/>
        </p:nvSpPr>
        <p:spPr>
          <a:xfrm>
            <a:off x="4736592" y="7008876"/>
            <a:ext cx="676656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4000" b="1" dirty="0">
                <a:solidFill>
                  <a:srgbClr val="032341"/>
                </a:solidFill>
                <a:ea typeface="Calibri"/>
                <a:cs typeface="Calibri" panose="020F0502020204030204"/>
                <a:hlinkClick r:id="rId5"/>
              </a:rPr>
              <a:t>رابط الفيديو لتشغيله بشاشة مكتملة</a:t>
            </a:r>
            <a:br>
              <a:rPr lang="en-US" sz="4000" b="1" dirty="0">
                <a:ea typeface="Calibri"/>
                <a:cs typeface="Calibri" panose="020F0502020204030204"/>
              </a:rPr>
            </a:br>
            <a:endParaRPr lang="en-US" sz="4000" b="1">
              <a:ea typeface="+mn-lt"/>
              <a:cs typeface="+mn-lt"/>
            </a:endParaRPr>
          </a:p>
          <a:p>
            <a:pPr algn="ctr"/>
            <a:endParaRPr lang="en-US"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400" y="34290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457200" y="95250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032341"/>
                </a:solidFill>
                <a:latin typeface="IBM Plex Sans Arabic"/>
                <a:ea typeface="IBM Plex Sans Arabic"/>
                <a:cs typeface="IBM Plex Sans Arabic" pitchFamily="34" charset="-120"/>
              </a:rPr>
              <a:t>التحديات والخطط المستقبلية</a:t>
            </a:r>
            <a:endParaRPr lang="en-US" sz="4200">
              <a:solidFill>
                <a:srgbClr val="032341"/>
              </a:solidFill>
              <a:latin typeface="IBM Plex Sans Arabic"/>
              <a:ea typeface="Calibri"/>
              <a:cs typeface="Calibri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2090440" y="2324100"/>
            <a:ext cx="5054561" cy="3718560"/>
          </a:xfrm>
          <a:prstGeom prst="roundRect">
            <a:avLst>
              <a:gd name="adj" fmla="val 7172"/>
            </a:avLst>
          </a:prstGeom>
          <a:solidFill>
            <a:srgbClr val="032341"/>
          </a:solidFill>
          <a:ln/>
        </p:spPr>
        <p:txBody>
          <a:bodyPr/>
          <a:lstStyle/>
          <a:p>
            <a:pPr marL="0" algn="l" defTabSz="914400" rtl="0" eaLnBrk="1" latinLnBrk="0" hangingPunct="1"/>
            <a:endParaRPr lang="en-SA" dirty="0"/>
          </a:p>
        </p:txBody>
      </p:sp>
      <p:sp>
        <p:nvSpPr>
          <p:cNvPr id="6" name="Text 2"/>
          <p:cNvSpPr/>
          <p:nvPr/>
        </p:nvSpPr>
        <p:spPr>
          <a:xfrm>
            <a:off x="11897404" y="2819400"/>
            <a:ext cx="46379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C36B4E"/>
                </a:solidFill>
                <a:latin typeface="Calibri"/>
                <a:ea typeface="Calibri"/>
                <a:cs typeface="Calibri"/>
              </a:rPr>
              <a:t>التحديات</a:t>
            </a:r>
            <a:endParaRPr lang="en-US" sz="2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12336185" y="3486150"/>
            <a:ext cx="4199215" cy="2137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r" rtl="1">
              <a:lnSpc>
                <a:spcPct val="16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توحيد</a:t>
            </a:r>
            <a:r>
              <a:rPr lang="en-US" sz="1950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مصادر</a:t>
            </a:r>
            <a:r>
              <a:rPr lang="en-US" sz="1950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البيانات</a:t>
            </a:r>
            <a:endParaRPr lang="en-US" sz="1950" err="1">
              <a:latin typeface="Calibri"/>
              <a:ea typeface="Calibri"/>
              <a:cs typeface="Calibri"/>
            </a:endParaRPr>
          </a:p>
          <a:p>
            <a:pPr marL="173355" indent="-173355" algn="r" rtl="1">
              <a:lnSpc>
                <a:spcPct val="16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تقليل</a:t>
            </a:r>
            <a:r>
              <a:rPr lang="en-US" sz="1950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الإنذارات</a:t>
            </a:r>
            <a:r>
              <a:rPr lang="en-US" sz="1950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الكاذبة</a:t>
            </a:r>
            <a:endParaRPr lang="en-US" sz="1950" err="1">
              <a:latin typeface="Calibri"/>
              <a:ea typeface="Calibri"/>
              <a:cs typeface="Calibri"/>
            </a:endParaRPr>
          </a:p>
          <a:p>
            <a:pPr marL="173355" indent="-173355" algn="r" rtl="1">
              <a:lnSpc>
                <a:spcPct val="16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شرح</a:t>
            </a:r>
            <a:r>
              <a:rPr lang="en-US" sz="1950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قرارات</a:t>
            </a:r>
            <a:r>
              <a:rPr lang="en-US" sz="1950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الذكاء</a:t>
            </a:r>
            <a:r>
              <a:rPr lang="en-US" sz="1950" dirty="0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6E7DC"/>
                </a:solidFill>
                <a:latin typeface="Calibri"/>
                <a:ea typeface="Calibri"/>
                <a:cs typeface="Calibri"/>
              </a:rPr>
              <a:t>الاصطناعي</a:t>
            </a:r>
            <a:endParaRPr lang="en-US" sz="1950">
              <a:solidFill>
                <a:srgbClr val="F6E7D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616720" y="2324100"/>
            <a:ext cx="5054620" cy="3718560"/>
          </a:xfrm>
          <a:prstGeom prst="roundRect">
            <a:avLst>
              <a:gd name="adj" fmla="val 7172"/>
            </a:avLst>
          </a:prstGeom>
          <a:solidFill>
            <a:srgbClr val="C36B4E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6423684" y="2819400"/>
            <a:ext cx="46380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الخطة القادمة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862465" y="3486150"/>
            <a:ext cx="4199275" cy="2137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r" rtl="1">
              <a:lnSpc>
                <a:spcPct val="16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ربط لوحة المحقق (React) بالخلفية الكاملة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lang="en-US" sz="1950" err="1">
              <a:latin typeface="Calibri"/>
              <a:ea typeface="Calibri"/>
              <a:cs typeface="Calibri"/>
            </a:endParaRPr>
          </a:p>
          <a:p>
            <a:pPr marL="173355" indent="-173355" algn="r" rtl="1">
              <a:lnSpc>
                <a:spcPct val="16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بيانات أغنى (KYC، الأجهزة، القوائم) لكسر سقف البيانات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lang="en-US" sz="1950" err="1">
              <a:latin typeface="Calibri"/>
              <a:ea typeface="Calibri"/>
              <a:cs typeface="Calibri"/>
            </a:endParaRPr>
          </a:p>
          <a:p>
            <a:pPr marL="173355" indent="-173355" algn="r" rtl="1">
              <a:lnSpc>
                <a:spcPct val="16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التشغيل التجريبي على بيانات مصرفية حقيقية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lang="en-US" sz="1950" err="1">
              <a:latin typeface="Calibri"/>
              <a:ea typeface="Calibri"/>
              <a:cs typeface="Calibr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143060" y="2324100"/>
            <a:ext cx="5054561" cy="3718560"/>
          </a:xfrm>
          <a:prstGeom prst="roundRect">
            <a:avLst>
              <a:gd name="adj" fmla="val 7172"/>
            </a:avLst>
          </a:prstGeom>
          <a:solidFill>
            <a:srgbClr val="8B85D6"/>
          </a:solidFill>
          <a:ln/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950024" y="2819400"/>
            <a:ext cx="46379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400" b="1" dirty="0" err="1">
                <a:solidFill>
                  <a:srgbClr val="032341"/>
                </a:solidFill>
                <a:latin typeface="Calibri"/>
                <a:ea typeface="Calibri"/>
                <a:cs typeface="Calibri"/>
              </a:rPr>
              <a:t>المساعدة</a:t>
            </a:r>
            <a:r>
              <a:rPr lang="en-US" sz="2400" b="1" dirty="0">
                <a:solidFill>
                  <a:srgbClr val="03234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032341"/>
                </a:solidFill>
                <a:latin typeface="Calibri"/>
                <a:ea typeface="Calibri"/>
                <a:cs typeface="Calibri"/>
              </a:rPr>
              <a:t>المطلوبة</a:t>
            </a:r>
            <a:endParaRPr lang="en-US" sz="2400" err="1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388805" y="3486150"/>
            <a:ext cx="4199215" cy="1569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r" rtl="1">
              <a:lnSpc>
                <a:spcPct val="16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بيانات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اختبار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مصرفية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من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احد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الجهات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المصرفية</a:t>
            </a:r>
            <a:r>
              <a:rPr lang="en-US" sz="19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9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6629" y="3732307"/>
            <a:ext cx="231474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6E7D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شكراً</a:t>
            </a:r>
            <a:endParaRPr lang="en-US" sz="9000" dirty="0"/>
          </a:p>
        </p:txBody>
      </p:sp>
      <p:sp>
        <p:nvSpPr>
          <p:cNvPr id="5" name="Shape 2"/>
          <p:cNvSpPr/>
          <p:nvPr/>
        </p:nvSpPr>
        <p:spPr>
          <a:xfrm>
            <a:off x="8172450" y="5785485"/>
            <a:ext cx="1943100" cy="1943100"/>
          </a:xfrm>
          <a:prstGeom prst="roundRect">
            <a:avLst>
              <a:gd name="adj" fmla="val 17647"/>
            </a:avLst>
          </a:prstGeom>
          <a:solidFill>
            <a:srgbClr val="F6E7D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0" y="5995035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770</Words>
  <Application>Microsoft Office PowerPoint</Application>
  <PresentationFormat>Custom</PresentationFormat>
  <Paragraphs>162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Waleed Alasad</cp:lastModifiedBy>
  <cp:revision>111</cp:revision>
  <dcterms:created xsi:type="dcterms:W3CDTF">2026-07-02T17:43:43Z</dcterms:created>
  <dcterms:modified xsi:type="dcterms:W3CDTF">2026-07-02T19:31:45Z</dcterms:modified>
</cp:coreProperties>
</file>